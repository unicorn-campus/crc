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</p:sldIdLst>
  <p:notesMasterIdLst>
    <p:notesMasterId r:id="rId37"/>
  </p:notesMasterIdLst>
  <p:sldSz cx="14630400" cy="8229600"/>
  <p:notesSz cx="8229600" cy="14630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notesMaster" Target="notesMasters/notesMaster1.xml"/><Relationship Id="rId38" Type="http://schemas.openxmlformats.org/officeDocument/2006/relationships/presProps" Target="presProps.xml"/><Relationship Id="rId39" Type="http://schemas.openxmlformats.org/officeDocument/2006/relationships/viewProps" Target="viewProps.xml"/><Relationship Id="rId40" Type="http://schemas.openxmlformats.org/officeDocument/2006/relationships/theme" Target="theme/theme1.xml"/><Relationship Id="rId4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내용_단쪽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8406" y="868680"/>
            <a:ext cx="13613587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45770" y="7787945"/>
            <a:ext cx="15316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6A6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무단전재 및 배포 금지</a:t>
            </a:r>
            <a:endParaRPr lang="en-US" sz="1200" dirty="0"/>
          </a:p>
        </p:txBody>
      </p:sp>
      <p:sp>
        <p:nvSpPr>
          <p:cNvPr id="4" name="Text 2"/>
          <p:cNvSpPr/>
          <p:nvPr>
            <p:ph idx="102" type="title" hasCustomPrompt="1"/>
          </p:nvPr>
        </p:nvSpPr>
        <p:spPr>
          <a:xfrm>
            <a:off x="509321" y="99670"/>
            <a:ext cx="13738860" cy="82844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93247" y="7787945"/>
            <a:ext cx="32918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93247" y="7787945"/>
            <a:ext cx="32918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09321" y="99670"/>
            <a:ext cx="13738860" cy="8284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SQL 검색기 워크플로우 설계서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09321" y="2103120"/>
            <a:ext cx="1362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W-1  SQL 검색기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509321" y="3200400"/>
            <a:ext cx="73152" cy="1280160"/>
          </a:xfrm>
          <a:prstGeom prst="rect">
            <a:avLst/>
          </a:prstGeom>
          <a:solidFill>
            <a:srgbClr val="2E74C6"/>
          </a:solidFill>
          <a:ln/>
        </p:spPr>
      </p:sp>
      <p:sp>
        <p:nvSpPr>
          <p:cNvPr id="5" name="Text 3"/>
          <p:cNvSpPr/>
          <p:nvPr/>
        </p:nvSpPr>
        <p:spPr>
          <a:xfrm>
            <a:off x="783641" y="3200400"/>
            <a:ext cx="13350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상담사 질문을 정해 둔 조회(정형쿼리) 또는 LLM이 만든 SQL(NL2SQL)로 바꿔,</a:t>
            </a:r>
            <a:endParaRPr lang="en-US" sz="2800" dirty="0"/>
          </a:p>
          <a:p>
            <a:pPr indent="0" marL="0">
              <a:buNone/>
            </a:pPr>
            <a:r>
              <a:rPr lang="en-US" sz="28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회원 범위 안에서만 안전하게 답을 찾음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509321" y="5120640"/>
            <a:ext cx="4389120" cy="1828800"/>
          </a:xfrm>
          <a:prstGeom prst="roundRect">
            <a:avLst>
              <a:gd name="adj" fmla="val 5000"/>
            </a:avLst>
          </a:prstGeom>
          <a:solidFill>
            <a:srgbClr val="EEF3FA"/>
          </a:solidFill>
          <a:ln w="12700">
            <a:solidFill>
              <a:srgbClr val="D9E0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3641" y="534924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워크플로우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83641" y="594360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W-1 SQL 검색기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5127041" y="5120640"/>
            <a:ext cx="4389120" cy="1828800"/>
          </a:xfrm>
          <a:prstGeom prst="roundRect">
            <a:avLst>
              <a:gd name="adj" fmla="val 5000"/>
            </a:avLst>
          </a:prstGeom>
          <a:solidFill>
            <a:srgbClr val="EEF3FA"/>
          </a:solidFill>
          <a:ln w="12700">
            <a:solidFill>
              <a:srgbClr val="D9E0E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01361" y="534924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팀명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5401361" y="594360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design-agentic-ai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9744761" y="5120640"/>
            <a:ext cx="4389120" cy="1828800"/>
          </a:xfrm>
          <a:prstGeom prst="roundRect">
            <a:avLst>
              <a:gd name="adj" fmla="val 5000"/>
            </a:avLst>
          </a:prstGeom>
          <a:solidFill>
            <a:srgbClr val="EEF3FA"/>
          </a:solidFill>
          <a:ln w="12700">
            <a:solidFill>
              <a:srgbClr val="D9E0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019081" y="534924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작성일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0019081" y="594360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2026-10-15</a:t>
            </a: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93247" y="7787945"/>
            <a:ext cx="32918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09321" y="99670"/>
            <a:ext cx="13738860" cy="8284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설계 개요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09321" y="1151230"/>
            <a:ext cx="1362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정형 DB에서 답을 찾는 동기 요청 1건을 15초 안에 끝내는 워크플로우를 설계함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09321" y="1737360"/>
            <a:ext cx="6697980" cy="457200"/>
          </a:xfrm>
          <a:prstGeom prst="roundRect">
            <a:avLst>
              <a:gd name="adj" fmla="val 12000"/>
            </a:avLst>
          </a:prstGeom>
          <a:solidFill>
            <a:srgbClr val="1E2A5C"/>
          </a:solidFill>
          <a:ln/>
        </p:spPr>
      </p:sp>
      <p:sp>
        <p:nvSpPr>
          <p:cNvPr id="5" name="Text 3"/>
          <p:cNvSpPr/>
          <p:nvPr/>
        </p:nvSpPr>
        <p:spPr>
          <a:xfrm>
            <a:off x="509321" y="1737360"/>
            <a:ext cx="66979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설계 대상과 범위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7435901" y="1737360"/>
            <a:ext cx="6697980" cy="457200"/>
          </a:xfrm>
          <a:prstGeom prst="roundRect">
            <a:avLst>
              <a:gd name="adj" fmla="val 12000"/>
            </a:avLst>
          </a:prstGeom>
          <a:solidFill>
            <a:srgbClr val="2E74C6"/>
          </a:solidFill>
          <a:ln/>
        </p:spPr>
      </p:sp>
      <p:sp>
        <p:nvSpPr>
          <p:cNvPr id="7" name="Text 5"/>
          <p:cNvSpPr/>
          <p:nvPr/>
        </p:nvSpPr>
        <p:spPr>
          <a:xfrm>
            <a:off x="7435901" y="1737360"/>
            <a:ext cx="66979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설계 기준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509321" y="2304288"/>
            <a:ext cx="6697980" cy="4965192"/>
          </a:xfrm>
          <a:prstGeom prst="roundRect">
            <a:avLst>
              <a:gd name="adj" fmla="val 1842"/>
            </a:avLst>
          </a:prstGeom>
          <a:solidFill>
            <a:srgbClr val="EEF3FA"/>
          </a:solidFill>
          <a:ln w="12700">
            <a:solidFill>
              <a:srgbClr val="D9E0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73913" y="2600096"/>
            <a:ext cx="6259068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3B45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설계 대상: SQL 검색기 워크플로우 W-1(단계 6개, 반복 구간 1개, 커넥터 1개)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73913" y="3603193"/>
            <a:ext cx="6259068" cy="3703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3B45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관련 유저스토리: 없음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73913" y="4327398"/>
            <a:ext cx="6259068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3B45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시작 트리거: 동기 요청(호출자가 검색을 요청하고 응답을 기다림) → 단계ID 접두어 S-R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73913" y="5330495"/>
            <a:ext cx="6259068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3B45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설계 범위: 요청 검증, 정형쿼리 또는 NL2SQL 판단, 계획 판정, SQL 검증, SQL 실행, 응답 반환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73913" y="6333592"/>
            <a:ext cx="6259068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3B45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제외 범위: 답변 문장 생성(호출자 몫), 비정형 문서 검색(RAG), DB 스키마와 뷰 변경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435901" y="2304288"/>
            <a:ext cx="6697980" cy="4965192"/>
          </a:xfrm>
          <a:prstGeom prst="roundRect">
            <a:avLst>
              <a:gd name="adj" fmla="val 1842"/>
            </a:avLst>
          </a:prstGeom>
          <a:solidFill>
            <a:srgbClr val="F5F8FC"/>
          </a:solidFill>
          <a:ln w="12700">
            <a:solidFill>
              <a:srgbClr val="D9E0E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573061" y="2628900"/>
            <a:ext cx="310896" cy="310896"/>
          </a:xfrm>
          <a:prstGeom prst="roundRect">
            <a:avLst>
              <a:gd name="adj" fmla="val 14706"/>
            </a:avLst>
          </a:prstGeom>
          <a:solidFill>
            <a:srgbClr val="2E74C6"/>
          </a:solidFill>
          <a:ln/>
        </p:spPr>
      </p:sp>
      <p:sp>
        <p:nvSpPr>
          <p:cNvPr id="16" name="Text 14"/>
          <p:cNvSpPr/>
          <p:nvPr/>
        </p:nvSpPr>
        <p:spPr>
          <a:xfrm>
            <a:off x="7573061" y="26289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002829" y="2601468"/>
            <a:ext cx="596646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B45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DB 취급: 시스템 내부 구성요소. 외부시스템 연동 명세와 커넥터 목록에 넣지 않음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7573061" y="3634740"/>
            <a:ext cx="310896" cy="310896"/>
          </a:xfrm>
          <a:prstGeom prst="roundRect">
            <a:avLst>
              <a:gd name="adj" fmla="val 14706"/>
            </a:avLst>
          </a:prstGeom>
          <a:solidFill>
            <a:srgbClr val="2E74C6"/>
          </a:solidFill>
          <a:ln/>
        </p:spPr>
      </p:sp>
      <p:sp>
        <p:nvSpPr>
          <p:cNvPr id="19" name="Text 17"/>
          <p:cNvSpPr/>
          <p:nvPr/>
        </p:nvSpPr>
        <p:spPr>
          <a:xfrm>
            <a:off x="7573061" y="36347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002829" y="3607308"/>
            <a:ext cx="5966460" cy="3703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B45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전체 시간 예산: 15초(종료 처리 시간 1초)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7573061" y="4361688"/>
            <a:ext cx="310896" cy="310896"/>
          </a:xfrm>
          <a:prstGeom prst="roundRect">
            <a:avLst>
              <a:gd name="adj" fmla="val 14706"/>
            </a:avLst>
          </a:prstGeom>
          <a:solidFill>
            <a:srgbClr val="2E74C6"/>
          </a:solidFill>
          <a:ln/>
        </p:spPr>
      </p:sp>
      <p:sp>
        <p:nvSpPr>
          <p:cNvPr id="22" name="Text 20"/>
          <p:cNvSpPr/>
          <p:nvPr/>
        </p:nvSpPr>
        <p:spPr>
          <a:xfrm>
            <a:off x="7573061" y="43616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8002829" y="4334256"/>
            <a:ext cx="5966460" cy="9281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B45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필드 표기 방식: 이름(타입, 필수 여부, 설명). 타입은 string, integer, boolean, date(YYYY-MM-DD), datetime, object, array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7573061" y="5646420"/>
            <a:ext cx="310896" cy="310896"/>
          </a:xfrm>
          <a:prstGeom prst="roundRect">
            <a:avLst>
              <a:gd name="adj" fmla="val 14706"/>
            </a:avLst>
          </a:prstGeom>
          <a:solidFill>
            <a:srgbClr val="2E74C6"/>
          </a:solidFill>
          <a:ln/>
        </p:spPr>
      </p:sp>
      <p:sp>
        <p:nvSpPr>
          <p:cNvPr id="25" name="Text 23"/>
          <p:cNvSpPr/>
          <p:nvPr/>
        </p:nvSpPr>
        <p:spPr>
          <a:xfrm>
            <a:off x="7573061" y="56464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8002829" y="5618988"/>
            <a:ext cx="596646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B45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DB 계정: NL2SQL 실행 계정 sql_retriever_user(관리자 권한 없음, 읽기 전용 세션)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93247" y="7787945"/>
            <a:ext cx="32918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09321" y="99670"/>
            <a:ext cx="13738860" cy="8284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처음 보는 분을 위한 용어 풀이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09321" y="1151230"/>
            <a:ext cx="1362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설계서에 자주 나오는 용어를 한 줄로 풀어 둠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09321" y="1737360"/>
            <a:ext cx="1463040" cy="365760"/>
          </a:xfrm>
          <a:prstGeom prst="roundRect">
            <a:avLst>
              <a:gd name="adj" fmla="val 12500"/>
            </a:avLst>
          </a:prstGeom>
          <a:solidFill>
            <a:srgbClr val="404155"/>
          </a:solidFill>
          <a:ln/>
        </p:spPr>
      </p:sp>
      <p:sp>
        <p:nvSpPr>
          <p:cNvPr id="5" name="Text 3"/>
          <p:cNvSpPr/>
          <p:nvPr/>
        </p:nvSpPr>
        <p:spPr>
          <a:xfrm>
            <a:off x="509321" y="173736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용어</a:t>
            </a:r>
            <a:endParaRPr lang="en-US" sz="16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9321" y="2212848"/>
          <a:ext cx="136245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1247120"/>
              </a:tblGrid>
              <a:tr h="5618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용어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한 줄 풀이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</a:tr>
              <a:tr h="5618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NL2SQL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사람이 쓴 질문(Natural Language)을 LLM이 DB 조회 문장(SQL)으로 바꾸는 방식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18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정형쿼리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자주 묻는 질문에 쓰려고 미리 만들어 검사까지 끝낸 고정 SQL. ID로 골라 씀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</a:tr>
              <a:tr h="5618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뷰(View)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원본 표를 그대로 보여 주지 않고, 필요한 컬럼과 기간만 골라 보여 주는 가상의 표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18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행 수준 보안(RLS)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DB가 행마다 "이 회원의 행인가"를 검사해, 지정한 회원의 행만 보이게 거르는 기능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</a:tr>
              <a:tr h="5618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세션 변수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DB 접속 하나에만 잠시 붙여 두는 값. 여기서는 회원ID, 기준일, 거래 제공 시작일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18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최악값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타임아웃까지 기다리고 재시도까지 다 썼을 때 걸리는 가장 긴 시간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</a:tr>
              <a:tr h="5618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반복 구간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결과가 기준에 못 미칠 때 앞 단계로 되돌아가 다시 도는 구간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18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착지 단계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시간이 모자라거나 재시도를 다 썼을 때 이어서 가는 단계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93247" y="7787945"/>
            <a:ext cx="32918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09321" y="99670"/>
            <a:ext cx="13738860" cy="8284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목차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09321" y="1151230"/>
            <a:ext cx="1362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설계 가이드의 작성 순서 ① ~ ⑥을 따라 구성함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09321" y="1737360"/>
            <a:ext cx="4389120" cy="1600200"/>
          </a:xfrm>
          <a:prstGeom prst="roundRect">
            <a:avLst>
              <a:gd name="adj" fmla="val 5714"/>
            </a:avLst>
          </a:prstGeom>
          <a:solidFill>
            <a:srgbClr val="EEF3FA"/>
          </a:solidFill>
          <a:ln w="12700">
            <a:solidFill>
              <a:srgbClr val="D9E0E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92201" y="1920240"/>
            <a:ext cx="457200" cy="457200"/>
          </a:xfrm>
          <a:prstGeom prst="roundRect">
            <a:avLst>
              <a:gd name="adj" fmla="val 10000"/>
            </a:avLst>
          </a:prstGeom>
          <a:solidFill>
            <a:srgbClr val="1E2A5C"/>
          </a:solidFill>
          <a:ln/>
        </p:spPr>
      </p:sp>
      <p:sp>
        <p:nvSpPr>
          <p:cNvPr id="6" name="Text 4"/>
          <p:cNvSpPr/>
          <p:nvPr/>
        </p:nvSpPr>
        <p:spPr>
          <a:xfrm>
            <a:off x="692201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286561" y="19202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단계 도출 및 순서 정의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92201" y="2514600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B45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단계 목록, 흐름 도식, Mermaid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09321" y="3520440"/>
            <a:ext cx="4389120" cy="1600200"/>
          </a:xfrm>
          <a:prstGeom prst="roundRect">
            <a:avLst>
              <a:gd name="adj" fmla="val 5714"/>
            </a:avLst>
          </a:prstGeom>
          <a:solidFill>
            <a:srgbClr val="EEF3FA"/>
          </a:solidFill>
          <a:ln w="12700">
            <a:solidFill>
              <a:srgbClr val="D9E0E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92201" y="3703320"/>
            <a:ext cx="457200" cy="457200"/>
          </a:xfrm>
          <a:prstGeom prst="roundRect">
            <a:avLst>
              <a:gd name="adj" fmla="val 10000"/>
            </a:avLst>
          </a:prstGeom>
          <a:solidFill>
            <a:srgbClr val="1E2A5C"/>
          </a:solidFill>
          <a:ln/>
        </p:spPr>
      </p:sp>
      <p:sp>
        <p:nvSpPr>
          <p:cNvPr id="11" name="Text 9"/>
          <p:cNvSpPr/>
          <p:nvPr/>
        </p:nvSpPr>
        <p:spPr>
          <a:xfrm>
            <a:off x="692201" y="3703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286561" y="370332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단계별 명세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92201" y="4297680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B45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S-R1 ~ S-R6 단계마다 2장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127041" y="1737360"/>
            <a:ext cx="4389120" cy="1600200"/>
          </a:xfrm>
          <a:prstGeom prst="roundRect">
            <a:avLst>
              <a:gd name="adj" fmla="val 5714"/>
            </a:avLst>
          </a:prstGeom>
          <a:solidFill>
            <a:srgbClr val="EEF3FA"/>
          </a:solidFill>
          <a:ln w="12700">
            <a:solidFill>
              <a:srgbClr val="D9E0E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309921" y="1920240"/>
            <a:ext cx="457200" cy="457200"/>
          </a:xfrm>
          <a:prstGeom prst="roundRect">
            <a:avLst>
              <a:gd name="adj" fmla="val 10000"/>
            </a:avLst>
          </a:prstGeom>
          <a:solidFill>
            <a:srgbClr val="1E2A5C"/>
          </a:solidFill>
          <a:ln/>
        </p:spPr>
      </p:sp>
      <p:sp>
        <p:nvSpPr>
          <p:cNvPr id="16" name="Text 14"/>
          <p:cNvSpPr/>
          <p:nvPr/>
        </p:nvSpPr>
        <p:spPr>
          <a:xfrm>
            <a:off x="5309921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5904281" y="19202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외부시스템 연동 명세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5309921" y="2514600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B45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Groq LLM 연동과 초과 시 처리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5127041" y="3520440"/>
            <a:ext cx="4389120" cy="1600200"/>
          </a:xfrm>
          <a:prstGeom prst="roundRect">
            <a:avLst>
              <a:gd name="adj" fmla="val 5714"/>
            </a:avLst>
          </a:prstGeom>
          <a:solidFill>
            <a:srgbClr val="EEF3FA"/>
          </a:solidFill>
          <a:ln w="12700">
            <a:solidFill>
              <a:srgbClr val="D9E0E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309921" y="3703320"/>
            <a:ext cx="457200" cy="457200"/>
          </a:xfrm>
          <a:prstGeom prst="roundRect">
            <a:avLst>
              <a:gd name="adj" fmla="val 10000"/>
            </a:avLst>
          </a:prstGeom>
          <a:solidFill>
            <a:srgbClr val="1E2A5C"/>
          </a:solidFill>
          <a:ln/>
        </p:spPr>
      </p:sp>
      <p:sp>
        <p:nvSpPr>
          <p:cNvPr id="21" name="Text 19"/>
          <p:cNvSpPr/>
          <p:nvPr/>
        </p:nvSpPr>
        <p:spPr>
          <a:xfrm>
            <a:off x="5309921" y="3703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904281" y="370332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반복 구간 명세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5309921" y="4297680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B45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L-1 재계획 구간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5127041" y="5303520"/>
            <a:ext cx="4389120" cy="1600200"/>
          </a:xfrm>
          <a:prstGeom prst="roundRect">
            <a:avLst>
              <a:gd name="adj" fmla="val 5714"/>
            </a:avLst>
          </a:prstGeom>
          <a:solidFill>
            <a:srgbClr val="EEF3FA"/>
          </a:solidFill>
          <a:ln w="12700">
            <a:solidFill>
              <a:srgbClr val="D9E0E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309921" y="5486400"/>
            <a:ext cx="457200" cy="457200"/>
          </a:xfrm>
          <a:prstGeom prst="roundRect">
            <a:avLst>
              <a:gd name="adj" fmla="val 10000"/>
            </a:avLst>
          </a:prstGeom>
          <a:solidFill>
            <a:srgbClr val="1E2A5C"/>
          </a:solidFill>
          <a:ln/>
        </p:spPr>
      </p:sp>
      <p:sp>
        <p:nvSpPr>
          <p:cNvPr id="26" name="Text 24"/>
          <p:cNvSpPr/>
          <p:nvPr/>
        </p:nvSpPr>
        <p:spPr>
          <a:xfrm>
            <a:off x="5309921" y="5486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5904281" y="548640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워크플로우 명세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5309921" y="6080760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B45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최악값 합계와 시간 예산 대조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9744761" y="1737360"/>
            <a:ext cx="4389120" cy="1600200"/>
          </a:xfrm>
          <a:prstGeom prst="roundRect">
            <a:avLst>
              <a:gd name="adj" fmla="val 5714"/>
            </a:avLst>
          </a:prstGeom>
          <a:solidFill>
            <a:srgbClr val="EEF3FA"/>
          </a:solidFill>
          <a:ln w="12700">
            <a:solidFill>
              <a:srgbClr val="D9E0E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927641" y="1920240"/>
            <a:ext cx="457200" cy="457200"/>
          </a:xfrm>
          <a:prstGeom prst="roundRect">
            <a:avLst>
              <a:gd name="adj" fmla="val 10000"/>
            </a:avLst>
          </a:prstGeom>
          <a:solidFill>
            <a:srgbClr val="404155"/>
          </a:solidFill>
          <a:ln/>
        </p:spPr>
      </p:sp>
      <p:sp>
        <p:nvSpPr>
          <p:cNvPr id="31" name="Text 29"/>
          <p:cNvSpPr/>
          <p:nvPr/>
        </p:nvSpPr>
        <p:spPr>
          <a:xfrm>
            <a:off x="9927641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10522001" y="19202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커넥터 설계</a:t>
            </a:r>
            <a:endParaRPr lang="en-US" sz="2000" dirty="0"/>
          </a:p>
        </p:txBody>
      </p:sp>
      <p:sp>
        <p:nvSpPr>
          <p:cNvPr id="33" name="Text 31"/>
          <p:cNvSpPr/>
          <p:nvPr/>
        </p:nvSpPr>
        <p:spPr>
          <a:xfrm>
            <a:off x="9927641" y="2514600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B45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목록, LLM 명세, 프롬프트, 응답 구조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9744761" y="3520440"/>
            <a:ext cx="4389120" cy="1600200"/>
          </a:xfrm>
          <a:prstGeom prst="roundRect">
            <a:avLst>
              <a:gd name="adj" fmla="val 5714"/>
            </a:avLst>
          </a:prstGeom>
          <a:solidFill>
            <a:srgbClr val="EEF3FA"/>
          </a:solidFill>
          <a:ln w="12700">
            <a:solidFill>
              <a:srgbClr val="D9E0E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9927641" y="3703320"/>
            <a:ext cx="457200" cy="457200"/>
          </a:xfrm>
          <a:prstGeom prst="roundRect">
            <a:avLst>
              <a:gd name="adj" fmla="val 10000"/>
            </a:avLst>
          </a:prstGeom>
          <a:solidFill>
            <a:srgbClr val="1E2A5C"/>
          </a:solidFill>
          <a:ln/>
        </p:spPr>
      </p:sp>
      <p:sp>
        <p:nvSpPr>
          <p:cNvPr id="36" name="Text 34"/>
          <p:cNvSpPr/>
          <p:nvPr/>
        </p:nvSpPr>
        <p:spPr>
          <a:xfrm>
            <a:off x="9927641" y="3703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10522001" y="370332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남은 시간 예산 정책</a:t>
            </a:r>
            <a:endParaRPr lang="en-US" sz="2000" dirty="0"/>
          </a:p>
        </p:txBody>
      </p:sp>
      <p:sp>
        <p:nvSpPr>
          <p:cNvPr id="38" name="Text 36"/>
          <p:cNvSpPr/>
          <p:nvPr/>
        </p:nvSpPr>
        <p:spPr>
          <a:xfrm>
            <a:off x="9927641" y="4297680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B45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측정 시점, 계산 예, 착지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9744761" y="5303520"/>
            <a:ext cx="4389120" cy="1600200"/>
          </a:xfrm>
          <a:prstGeom prst="roundRect">
            <a:avLst>
              <a:gd name="adj" fmla="val 5714"/>
            </a:avLst>
          </a:prstGeom>
          <a:solidFill>
            <a:srgbClr val="EEF3FA"/>
          </a:solidFill>
          <a:ln w="12700">
            <a:solidFill>
              <a:srgbClr val="D9E0E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9927641" y="5486400"/>
            <a:ext cx="457200" cy="457200"/>
          </a:xfrm>
          <a:prstGeom prst="roundRect">
            <a:avLst>
              <a:gd name="adj" fmla="val 10000"/>
            </a:avLst>
          </a:prstGeom>
          <a:solidFill>
            <a:srgbClr val="1E2A5C"/>
          </a:solidFill>
          <a:ln/>
        </p:spPr>
      </p:sp>
      <p:sp>
        <p:nvSpPr>
          <p:cNvPr id="41" name="Text 39"/>
          <p:cNvSpPr/>
          <p:nvPr/>
        </p:nvSpPr>
        <p:spPr>
          <a:xfrm>
            <a:off x="9927641" y="5486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+</a:t>
            </a:r>
            <a:endParaRPr lang="en-US" sz="1600" dirty="0"/>
          </a:p>
        </p:txBody>
      </p:sp>
      <p:sp>
        <p:nvSpPr>
          <p:cNvPr id="42" name="Text 40"/>
          <p:cNvSpPr/>
          <p:nvPr/>
        </p:nvSpPr>
        <p:spPr>
          <a:xfrm>
            <a:off x="10522001" y="548640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부록</a:t>
            </a:r>
            <a:endParaRPr lang="en-US" sz="2000" dirty="0"/>
          </a:p>
        </p:txBody>
      </p:sp>
      <p:sp>
        <p:nvSpPr>
          <p:cNvPr id="43" name="Text 41"/>
          <p:cNvSpPr/>
          <p:nvPr/>
        </p:nvSpPr>
        <p:spPr>
          <a:xfrm>
            <a:off x="9927641" y="6080760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B45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뷰, 정형쿼리, 검증 규칙, 필드, 오류, 점검표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93247" y="7787945"/>
            <a:ext cx="32918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09321" y="99670"/>
            <a:ext cx="13738860" cy="8284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① 단계 목록과 흐름 유형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09321" y="1151230"/>
            <a:ext cx="1362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입력 워크플로우 6단계를 그대로 쓰고, 검증 실패 시 되돌아가는 반복 구간 1개를 둠</a:t>
            </a:r>
            <a:endParaRPr lang="en-US" sz="1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9321" y="1737360"/>
          <a:ext cx="813816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651760"/>
                <a:gridCol w="2377440"/>
                <a:gridCol w="2194560"/>
              </a:tblGrid>
              <a:tr h="8138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단계ID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단계명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담당자 유형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흐름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S-R1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검색 요청 접수와 검증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규칙기반 코드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순차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138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S-R2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정형쿼리 또는 NL2SQL 판단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생성형AI + 규칙기반 코드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순차(반복 구간 시작)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</a:tr>
              <a:tr h="8138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S-R3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계획 적합성 판정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규칙기반 코드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분기(적합, 부적합, 답할 수 없음)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138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S-R4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SQL 검증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규칙기반 코드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분기(통과, 재생성, 오류 종료)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</a:tr>
              <a:tr h="8138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S-R5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SQL 실행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규칙기반 코드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순차(실패 시 오류 종료)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S-R6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응답 구성과 반환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규칙기반 코드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합류(S-R5, S-R3)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8876081" y="1737360"/>
            <a:ext cx="5257800" cy="5221224"/>
          </a:xfrm>
          <a:prstGeom prst="roundRect">
            <a:avLst>
              <a:gd name="adj" fmla="val 1751"/>
            </a:avLst>
          </a:prstGeom>
          <a:solidFill>
            <a:srgbClr val="EEF3FA"/>
          </a:solidFill>
          <a:ln w="12700">
            <a:solidFill>
              <a:srgbClr val="D9E0EC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9013241" y="2034540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흐름 유형 판단 이유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9013241" y="2473452"/>
            <a:ext cx="310896" cy="310896"/>
          </a:xfrm>
          <a:prstGeom prst="roundRect">
            <a:avLst>
              <a:gd name="adj" fmla="val 14706"/>
            </a:avLst>
          </a:prstGeom>
          <a:solidFill>
            <a:srgbClr val="2E74C6"/>
          </a:solidFill>
          <a:ln/>
        </p:spPr>
      </p:sp>
      <p:sp>
        <p:nvSpPr>
          <p:cNvPr id="8" name="Text 5"/>
          <p:cNvSpPr/>
          <p:nvPr/>
        </p:nvSpPr>
        <p:spPr>
          <a:xfrm>
            <a:off x="9013241" y="24734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9443009" y="2446020"/>
            <a:ext cx="452628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B45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순차: 앞 단계 출력이 뒤 단계 입력이라 차례대로 이어짐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9013241" y="3479292"/>
            <a:ext cx="310896" cy="310896"/>
          </a:xfrm>
          <a:prstGeom prst="roundRect">
            <a:avLst>
              <a:gd name="adj" fmla="val 14706"/>
            </a:avLst>
          </a:prstGeom>
          <a:solidFill>
            <a:srgbClr val="2E74C6"/>
          </a:solidFill>
          <a:ln/>
        </p:spPr>
      </p:sp>
      <p:sp>
        <p:nvSpPr>
          <p:cNvPr id="11" name="Text 8"/>
          <p:cNvSpPr/>
          <p:nvPr/>
        </p:nvSpPr>
        <p:spPr>
          <a:xfrm>
            <a:off x="9013241" y="34792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9443009" y="3451860"/>
            <a:ext cx="4526280" cy="9281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B45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분기: S-R3은 계획이 맞는지, S-R4는 SQL이 규칙을 지키는지에 따라 경로가 하나로 갈림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9013241" y="4764024"/>
            <a:ext cx="310896" cy="310896"/>
          </a:xfrm>
          <a:prstGeom prst="roundRect">
            <a:avLst>
              <a:gd name="adj" fmla="val 14706"/>
            </a:avLst>
          </a:prstGeom>
          <a:solidFill>
            <a:srgbClr val="2E74C6"/>
          </a:solidFill>
          <a:ln/>
        </p:spPr>
      </p:sp>
      <p:sp>
        <p:nvSpPr>
          <p:cNvPr id="14" name="Text 11"/>
          <p:cNvSpPr/>
          <p:nvPr/>
        </p:nvSpPr>
        <p:spPr>
          <a:xfrm>
            <a:off x="9013241" y="47640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9443009" y="4736592"/>
            <a:ext cx="4526280" cy="9281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B45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반복: 부적합 또는 검증 실패면 사유를 붙여 S-R2로 1회 되돌아감(사용자 결정 D-06, D-08)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9013241" y="6048756"/>
            <a:ext cx="310896" cy="310896"/>
          </a:xfrm>
          <a:prstGeom prst="roundRect">
            <a:avLst>
              <a:gd name="adj" fmla="val 14706"/>
            </a:avLst>
          </a:prstGeom>
          <a:solidFill>
            <a:srgbClr val="2E74C6"/>
          </a:solidFill>
          <a:ln/>
        </p:spPr>
      </p:sp>
      <p:sp>
        <p:nvSpPr>
          <p:cNvPr id="17" name="Text 14"/>
          <p:cNvSpPr/>
          <p:nvPr/>
        </p:nvSpPr>
        <p:spPr>
          <a:xfrm>
            <a:off x="9013241" y="60487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9443009" y="6021324"/>
            <a:ext cx="452628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B45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병렬 없음: 모든 단계가 앞 단계 결과를 써야 하므로 동시에 돌릴 단계가 없음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93247" y="7787945"/>
            <a:ext cx="32918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09321" y="99670"/>
            <a:ext cx="13738860" cy="8284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① 흐름 도식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09321" y="1151230"/>
            <a:ext cx="1362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반복 구간 L-1은 S-R2 ~ S-R4이며, 그림의 오류 종료 두 곳에 예외 경로(점선)를 더해 그림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09321" y="3086100"/>
            <a:ext cx="685800" cy="685800"/>
          </a:xfrm>
          <a:prstGeom prst="ellipse">
            <a:avLst/>
          </a:prstGeom>
          <a:solidFill>
            <a:srgbClr val="404155"/>
          </a:solidFill>
          <a:ln/>
        </p:spPr>
      </p:sp>
      <p:sp>
        <p:nvSpPr>
          <p:cNvPr id="5" name="Text 3"/>
          <p:cNvSpPr/>
          <p:nvPr/>
        </p:nvSpPr>
        <p:spPr>
          <a:xfrm>
            <a:off x="509321" y="30861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요청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486586" y="2948940"/>
            <a:ext cx="1463040" cy="960120"/>
          </a:xfrm>
          <a:prstGeom prst="roundRect">
            <a:avLst>
              <a:gd name="adj" fmla="val 7619"/>
            </a:avLst>
          </a:prstGeom>
          <a:solidFill>
            <a:srgbClr val="E2EEF9"/>
          </a:solidFill>
          <a:ln w="19050">
            <a:solidFill>
              <a:srgbClr val="1E2A5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486586" y="2948940"/>
            <a:ext cx="1463040" cy="9601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S-R1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검색 요청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접수와 검증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241091" y="2948940"/>
            <a:ext cx="1463040" cy="960120"/>
          </a:xfrm>
          <a:prstGeom prst="roundRect">
            <a:avLst>
              <a:gd name="adj" fmla="val 7619"/>
            </a:avLst>
          </a:prstGeom>
          <a:solidFill>
            <a:srgbClr val="2E74C6"/>
          </a:solidFill>
          <a:ln w="19050">
            <a:solidFill>
              <a:srgbClr val="2E74C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41091" y="2948940"/>
            <a:ext cx="1463040" cy="9601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S-R2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정형쿼리 또는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NL2SQL 판단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995596" y="2948940"/>
            <a:ext cx="14630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9050">
            <a:solidFill>
              <a:srgbClr val="1E2A5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995596" y="2948940"/>
            <a:ext cx="1463040" cy="9601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S-R3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계획 적합성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판정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955966" y="2948940"/>
            <a:ext cx="14630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9050">
            <a:solidFill>
              <a:srgbClr val="1E2A5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955966" y="2948940"/>
            <a:ext cx="1463040" cy="9601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S-R4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SQL 검증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10916336" y="2948940"/>
            <a:ext cx="1463040" cy="960120"/>
          </a:xfrm>
          <a:prstGeom prst="roundRect">
            <a:avLst>
              <a:gd name="adj" fmla="val 7619"/>
            </a:avLst>
          </a:prstGeom>
          <a:solidFill>
            <a:srgbClr val="E2EEF9"/>
          </a:solidFill>
          <a:ln w="19050">
            <a:solidFill>
              <a:srgbClr val="1E2A5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916336" y="2948940"/>
            <a:ext cx="1463040" cy="9601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S-R5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SQL 실행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12670841" y="2948940"/>
            <a:ext cx="14630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9050">
            <a:solidFill>
              <a:srgbClr val="1E2A5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2670841" y="2948940"/>
            <a:ext cx="1463040" cy="9601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S-R6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응답 구성과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반환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750101" y="2971800"/>
            <a:ext cx="914400" cy="914400"/>
          </a:xfrm>
          <a:prstGeom prst="diamond">
            <a:avLst/>
          </a:prstGeom>
          <a:solidFill>
            <a:srgbClr val="EEF3FA"/>
          </a:solidFill>
          <a:ln w="19050">
            <a:solidFill>
              <a:srgbClr val="1E2A5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750101" y="29718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적합?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9710471" y="2971800"/>
            <a:ext cx="914400" cy="914400"/>
          </a:xfrm>
          <a:prstGeom prst="diamond">
            <a:avLst/>
          </a:prstGeom>
          <a:solidFill>
            <a:srgbClr val="EEF3FA"/>
          </a:solidFill>
          <a:ln w="19050">
            <a:solidFill>
              <a:srgbClr val="1E2A5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710471" y="29718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통과?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1195121" y="3429000"/>
            <a:ext cx="291465" cy="0"/>
          </a:xfrm>
          <a:prstGeom prst="line">
            <a:avLst/>
          </a:prstGeom>
          <a:noFill/>
          <a:ln w="22225">
            <a:solidFill>
              <a:srgbClr val="1E2A5C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2949626" y="3429000"/>
            <a:ext cx="291465" cy="0"/>
          </a:xfrm>
          <a:prstGeom prst="line">
            <a:avLst/>
          </a:prstGeom>
          <a:noFill/>
          <a:ln w="22225">
            <a:solidFill>
              <a:srgbClr val="1E2A5C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4704131" y="3429000"/>
            <a:ext cx="291465" cy="0"/>
          </a:xfrm>
          <a:prstGeom prst="line">
            <a:avLst/>
          </a:prstGeom>
          <a:noFill/>
          <a:ln w="22225">
            <a:solidFill>
              <a:srgbClr val="1E2A5C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6458636" y="3429000"/>
            <a:ext cx="291465" cy="0"/>
          </a:xfrm>
          <a:prstGeom prst="line">
            <a:avLst/>
          </a:prstGeom>
          <a:noFill/>
          <a:ln w="22225">
            <a:solidFill>
              <a:srgbClr val="1E2A5C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7664501" y="3429000"/>
            <a:ext cx="291465" cy="0"/>
          </a:xfrm>
          <a:prstGeom prst="line">
            <a:avLst/>
          </a:prstGeom>
          <a:noFill/>
          <a:ln w="22225">
            <a:solidFill>
              <a:srgbClr val="1E2A5C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9419006" y="3429000"/>
            <a:ext cx="291465" cy="0"/>
          </a:xfrm>
          <a:prstGeom prst="line">
            <a:avLst/>
          </a:prstGeom>
          <a:noFill/>
          <a:ln w="22225">
            <a:solidFill>
              <a:srgbClr val="1E2A5C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10624871" y="3429000"/>
            <a:ext cx="291465" cy="0"/>
          </a:xfrm>
          <a:prstGeom prst="line">
            <a:avLst/>
          </a:prstGeom>
          <a:noFill/>
          <a:ln w="22225">
            <a:solidFill>
              <a:srgbClr val="1E2A5C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12379376" y="3429000"/>
            <a:ext cx="291465" cy="0"/>
          </a:xfrm>
          <a:prstGeom prst="line">
            <a:avLst/>
          </a:prstGeom>
          <a:noFill/>
          <a:ln w="22225">
            <a:solidFill>
              <a:srgbClr val="1E2A5C"/>
            </a:solidFill>
            <a:prstDash val="solid"/>
            <a:tailEnd type="triangle"/>
          </a:ln>
        </p:spPr>
      </p:sp>
      <p:sp>
        <p:nvSpPr>
          <p:cNvPr id="30" name="Text 28"/>
          <p:cNvSpPr/>
          <p:nvPr/>
        </p:nvSpPr>
        <p:spPr>
          <a:xfrm>
            <a:off x="7618781" y="3044952"/>
            <a:ext cx="38290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A53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10579151" y="3044952"/>
            <a:ext cx="38290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A53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509321" y="1755648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4C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반복 구간 L-1: S-R2 ~ S-R4, 재시도 1회(위쪽 되돌림 화살표)</a:t>
            </a:r>
            <a:endParaRPr lang="en-US" sz="1500" dirty="0"/>
          </a:p>
        </p:txBody>
      </p:sp>
      <p:sp>
        <p:nvSpPr>
          <p:cNvPr id="33" name="Shape 31"/>
          <p:cNvSpPr/>
          <p:nvPr/>
        </p:nvSpPr>
        <p:spPr>
          <a:xfrm flipV="1">
            <a:off x="7207301" y="2651760"/>
            <a:ext cx="0" cy="320040"/>
          </a:xfrm>
          <a:prstGeom prst="line">
            <a:avLst/>
          </a:prstGeom>
          <a:noFill/>
          <a:ln w="22225">
            <a:solidFill>
              <a:srgbClr val="2E74C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H="1">
            <a:off x="4246931" y="2651760"/>
            <a:ext cx="2960370" cy="0"/>
          </a:xfrm>
          <a:prstGeom prst="line">
            <a:avLst/>
          </a:prstGeom>
          <a:noFill/>
          <a:ln w="22225">
            <a:solidFill>
              <a:srgbClr val="2E74C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246931" y="2651760"/>
            <a:ext cx="0" cy="297180"/>
          </a:xfrm>
          <a:prstGeom prst="line">
            <a:avLst/>
          </a:prstGeom>
          <a:noFill/>
          <a:ln w="22225">
            <a:solidFill>
              <a:srgbClr val="2E74C6"/>
            </a:solidFill>
            <a:prstDash val="solid"/>
            <a:tailEnd type="triangle"/>
          </a:ln>
        </p:spPr>
      </p:sp>
      <p:sp>
        <p:nvSpPr>
          <p:cNvPr id="36" name="Text 34"/>
          <p:cNvSpPr/>
          <p:nvPr/>
        </p:nvSpPr>
        <p:spPr>
          <a:xfrm>
            <a:off x="4721276" y="2670048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E74C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부적합, 재시도 남음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 flipV="1">
            <a:off x="10167671" y="2331720"/>
            <a:ext cx="0" cy="640080"/>
          </a:xfrm>
          <a:prstGeom prst="line">
            <a:avLst/>
          </a:prstGeom>
          <a:noFill/>
          <a:ln w="22225">
            <a:solidFill>
              <a:srgbClr val="2E74C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flipH="1">
            <a:off x="3698291" y="2331720"/>
            <a:ext cx="6469380" cy="0"/>
          </a:xfrm>
          <a:prstGeom prst="line">
            <a:avLst/>
          </a:prstGeom>
          <a:noFill/>
          <a:ln w="22225">
            <a:solidFill>
              <a:srgbClr val="2E74C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698291" y="2331720"/>
            <a:ext cx="0" cy="617220"/>
          </a:xfrm>
          <a:prstGeom prst="line">
            <a:avLst/>
          </a:prstGeom>
          <a:noFill/>
          <a:ln w="22225">
            <a:solidFill>
              <a:srgbClr val="2E74C6"/>
            </a:solidFill>
            <a:prstDash val="solid"/>
            <a:tailEnd type="triangle"/>
          </a:ln>
        </p:spPr>
      </p:sp>
      <p:sp>
        <p:nvSpPr>
          <p:cNvPr id="40" name="Text 38"/>
          <p:cNvSpPr/>
          <p:nvPr/>
        </p:nvSpPr>
        <p:spPr>
          <a:xfrm>
            <a:off x="7590206" y="203911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E74C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검증 실패, 재시도 남음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9481871" y="4526280"/>
            <a:ext cx="1371600" cy="502920"/>
          </a:xfrm>
          <a:prstGeom prst="roundRect">
            <a:avLst>
              <a:gd name="adj" fmla="val 21818"/>
            </a:avLst>
          </a:prstGeom>
          <a:solidFill>
            <a:srgbClr val="FFFFFF"/>
          </a:solidFill>
          <a:ln w="19050">
            <a:solidFill>
              <a:srgbClr val="7C8598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9481871" y="452628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A53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오류 종료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10167671" y="3886200"/>
            <a:ext cx="0" cy="640080"/>
          </a:xfrm>
          <a:prstGeom prst="line">
            <a:avLst/>
          </a:prstGeom>
          <a:noFill/>
          <a:ln w="22225">
            <a:solidFill>
              <a:srgbClr val="4A5364"/>
            </a:solidFill>
            <a:prstDash val="solid"/>
            <a:tailEnd type="triangle"/>
          </a:ln>
        </p:spPr>
      </p:sp>
      <p:sp>
        <p:nvSpPr>
          <p:cNvPr id="44" name="Text 42"/>
          <p:cNvSpPr/>
          <p:nvPr/>
        </p:nvSpPr>
        <p:spPr>
          <a:xfrm>
            <a:off x="10240823" y="404164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3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재시도 소진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10962056" y="4526280"/>
            <a:ext cx="1371600" cy="502920"/>
          </a:xfrm>
          <a:prstGeom prst="roundRect">
            <a:avLst>
              <a:gd name="adj" fmla="val 21818"/>
            </a:avLst>
          </a:prstGeom>
          <a:solidFill>
            <a:srgbClr val="FFFFFF"/>
          </a:solidFill>
          <a:ln w="19050">
            <a:solidFill>
              <a:srgbClr val="7C8598"/>
            </a:solidFill>
            <a:prstDash val="dash"/>
          </a:ln>
        </p:spPr>
      </p:sp>
      <p:sp>
        <p:nvSpPr>
          <p:cNvPr id="46" name="Text 44"/>
          <p:cNvSpPr/>
          <p:nvPr/>
        </p:nvSpPr>
        <p:spPr>
          <a:xfrm>
            <a:off x="10962056" y="452628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A53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오류 종료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11647856" y="3909060"/>
            <a:ext cx="0" cy="617220"/>
          </a:xfrm>
          <a:prstGeom prst="line">
            <a:avLst/>
          </a:prstGeom>
          <a:noFill/>
          <a:ln w="22225">
            <a:solidFill>
              <a:srgbClr val="4A5364"/>
            </a:solidFill>
            <a:prstDash val="solid"/>
            <a:tailEnd type="triangle"/>
          </a:ln>
        </p:spPr>
      </p:sp>
      <p:sp>
        <p:nvSpPr>
          <p:cNvPr id="48" name="Text 46"/>
          <p:cNvSpPr/>
          <p:nvPr/>
        </p:nvSpPr>
        <p:spPr>
          <a:xfrm>
            <a:off x="11721008" y="404164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3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실행 실패</a:t>
            </a:r>
            <a:endParaRPr lang="en-US" sz="1400" dirty="0"/>
          </a:p>
        </p:txBody>
      </p:sp>
      <p:sp>
        <p:nvSpPr>
          <p:cNvPr id="49" name="Shape 47"/>
          <p:cNvSpPr/>
          <p:nvPr/>
        </p:nvSpPr>
        <p:spPr>
          <a:xfrm>
            <a:off x="1669466" y="4526280"/>
            <a:ext cx="2851785" cy="502920"/>
          </a:xfrm>
          <a:prstGeom prst="roundRect">
            <a:avLst>
              <a:gd name="adj" fmla="val 21818"/>
            </a:avLst>
          </a:prstGeom>
          <a:solidFill>
            <a:srgbClr val="FFFFFF"/>
          </a:solidFill>
          <a:ln w="19050">
            <a:solidFill>
              <a:srgbClr val="7C8598"/>
            </a:solidFill>
            <a:prstDash val="dash"/>
          </a:ln>
        </p:spPr>
      </p:sp>
      <p:sp>
        <p:nvSpPr>
          <p:cNvPr id="50" name="Text 48"/>
          <p:cNvSpPr/>
          <p:nvPr/>
        </p:nvSpPr>
        <p:spPr>
          <a:xfrm>
            <a:off x="1669466" y="4526280"/>
            <a:ext cx="285178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A53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오류 종료(예외)</a:t>
            </a:r>
            <a:endParaRPr lang="en-US" sz="1400" dirty="0"/>
          </a:p>
        </p:txBody>
      </p:sp>
      <p:sp>
        <p:nvSpPr>
          <p:cNvPr id="51" name="Shape 49"/>
          <p:cNvSpPr/>
          <p:nvPr/>
        </p:nvSpPr>
        <p:spPr>
          <a:xfrm>
            <a:off x="2218106" y="3909060"/>
            <a:ext cx="0" cy="617220"/>
          </a:xfrm>
          <a:prstGeom prst="line">
            <a:avLst/>
          </a:prstGeom>
          <a:noFill/>
          <a:ln w="22225">
            <a:solidFill>
              <a:srgbClr val="4A5364"/>
            </a:solidFill>
            <a:prstDash val="dash"/>
            <a:tailEnd type="triangle"/>
          </a:ln>
        </p:spPr>
      </p:sp>
      <p:sp>
        <p:nvSpPr>
          <p:cNvPr id="52" name="Shape 50"/>
          <p:cNvSpPr/>
          <p:nvPr/>
        </p:nvSpPr>
        <p:spPr>
          <a:xfrm>
            <a:off x="3972611" y="3909060"/>
            <a:ext cx="0" cy="617220"/>
          </a:xfrm>
          <a:prstGeom prst="line">
            <a:avLst/>
          </a:prstGeom>
          <a:noFill/>
          <a:ln w="22225">
            <a:solidFill>
              <a:srgbClr val="4A5364"/>
            </a:solidFill>
            <a:prstDash val="dash"/>
            <a:tailEnd type="triangle"/>
          </a:ln>
        </p:spPr>
      </p:sp>
      <p:sp>
        <p:nvSpPr>
          <p:cNvPr id="53" name="Text 51"/>
          <p:cNvSpPr/>
          <p:nvPr/>
        </p:nvSpPr>
        <p:spPr>
          <a:xfrm>
            <a:off x="1166546" y="404164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4A53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요청 거부</a:t>
            </a:r>
            <a:endParaRPr lang="en-US" sz="1400" dirty="0"/>
          </a:p>
        </p:txBody>
      </p:sp>
      <p:sp>
        <p:nvSpPr>
          <p:cNvPr id="54" name="Text 52"/>
          <p:cNvSpPr/>
          <p:nvPr/>
        </p:nvSpPr>
        <p:spPr>
          <a:xfrm>
            <a:off x="4045763" y="404164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3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LLM 대체 불가</a:t>
            </a:r>
            <a:endParaRPr lang="en-US" sz="1400" dirty="0"/>
          </a:p>
        </p:txBody>
      </p:sp>
      <p:sp>
        <p:nvSpPr>
          <p:cNvPr id="55" name="Text 53"/>
          <p:cNvSpPr/>
          <p:nvPr/>
        </p:nvSpPr>
        <p:spPr>
          <a:xfrm>
            <a:off x="1120826" y="507492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C85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시간 예산 부족(⑥)은 모든 단계에서 여기로 감</a:t>
            </a:r>
            <a:endParaRPr lang="en-US" sz="1400" dirty="0"/>
          </a:p>
        </p:txBody>
      </p:sp>
      <p:sp>
        <p:nvSpPr>
          <p:cNvPr id="56" name="Shape 54"/>
          <p:cNvSpPr/>
          <p:nvPr/>
        </p:nvSpPr>
        <p:spPr>
          <a:xfrm>
            <a:off x="7207301" y="3886200"/>
            <a:ext cx="0" cy="1600200"/>
          </a:xfrm>
          <a:prstGeom prst="line">
            <a:avLst/>
          </a:prstGeom>
          <a:noFill/>
          <a:ln w="22225">
            <a:solidFill>
              <a:srgbClr val="1E2A5C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7207301" y="5486400"/>
            <a:ext cx="6195060" cy="0"/>
          </a:xfrm>
          <a:prstGeom prst="line">
            <a:avLst/>
          </a:prstGeom>
          <a:noFill/>
          <a:ln w="22225">
            <a:solidFill>
              <a:srgbClr val="1E2A5C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 flipV="1">
            <a:off x="13402361" y="3909060"/>
            <a:ext cx="0" cy="1577340"/>
          </a:xfrm>
          <a:prstGeom prst="line">
            <a:avLst/>
          </a:prstGeom>
          <a:noFill/>
          <a:ln w="22225">
            <a:solidFill>
              <a:srgbClr val="1E2A5C"/>
            </a:solidFill>
            <a:prstDash val="solid"/>
            <a:tailEnd type="triangle"/>
          </a:ln>
        </p:spPr>
      </p:sp>
      <p:sp>
        <p:nvSpPr>
          <p:cNvPr id="59" name="Text 57"/>
          <p:cNvSpPr/>
          <p:nvPr/>
        </p:nvSpPr>
        <p:spPr>
          <a:xfrm>
            <a:off x="7955966" y="55229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답할 수 없음(재시도 소진 또는 제공 기간 밖)</a:t>
            </a:r>
            <a:endParaRPr lang="en-US" sz="1400" dirty="0"/>
          </a:p>
        </p:txBody>
      </p:sp>
      <p:sp>
        <p:nvSpPr>
          <p:cNvPr id="60" name="Shape 58"/>
          <p:cNvSpPr/>
          <p:nvPr/>
        </p:nvSpPr>
        <p:spPr>
          <a:xfrm>
            <a:off x="509321" y="5925312"/>
            <a:ext cx="13624560" cy="1188720"/>
          </a:xfrm>
          <a:prstGeom prst="roundRect">
            <a:avLst>
              <a:gd name="adj" fmla="val 6154"/>
            </a:avLst>
          </a:prstGeom>
          <a:solidFill>
            <a:srgbClr val="F5F8FC"/>
          </a:solidFill>
          <a:ln w="12700">
            <a:solidFill>
              <a:srgbClr val="D9E0EC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783641" y="6035040"/>
            <a:ext cx="502920" cy="320040"/>
          </a:xfrm>
          <a:prstGeom prst="roundRect">
            <a:avLst>
              <a:gd name="adj" fmla="val 14286"/>
            </a:avLst>
          </a:prstGeom>
          <a:solidFill>
            <a:srgbClr val="2E74C6"/>
          </a:solidFill>
          <a:ln w="12700">
            <a:solidFill>
              <a:srgbClr val="2E74C6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1423721" y="6016752"/>
            <a:ext cx="362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B45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LLM 단계</a:t>
            </a:r>
            <a:endParaRPr lang="en-US" sz="1500" dirty="0"/>
          </a:p>
        </p:txBody>
      </p:sp>
      <p:sp>
        <p:nvSpPr>
          <p:cNvPr id="63" name="Shape 61"/>
          <p:cNvSpPr/>
          <p:nvPr/>
        </p:nvSpPr>
        <p:spPr>
          <a:xfrm>
            <a:off x="5325161" y="6035040"/>
            <a:ext cx="502920" cy="32004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1E2A5C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965241" y="6016752"/>
            <a:ext cx="362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B45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규칙기반 단계</a:t>
            </a:r>
            <a:endParaRPr lang="en-US" sz="1500" dirty="0"/>
          </a:p>
        </p:txBody>
      </p:sp>
      <p:sp>
        <p:nvSpPr>
          <p:cNvPr id="65" name="Shape 63"/>
          <p:cNvSpPr/>
          <p:nvPr/>
        </p:nvSpPr>
        <p:spPr>
          <a:xfrm>
            <a:off x="9866681" y="6035040"/>
            <a:ext cx="502920" cy="320040"/>
          </a:xfrm>
          <a:prstGeom prst="roundRect">
            <a:avLst>
              <a:gd name="adj" fmla="val 14286"/>
            </a:avLst>
          </a:prstGeom>
          <a:solidFill>
            <a:srgbClr val="E2EEF9"/>
          </a:solidFill>
          <a:ln w="19050">
            <a:solidFill>
              <a:srgbClr val="1E2A5C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10506761" y="6016752"/>
            <a:ext cx="362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B45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규칙기반 + DB 조회 단계</a:t>
            </a:r>
            <a:endParaRPr lang="en-US" sz="1500" dirty="0"/>
          </a:p>
        </p:txBody>
      </p:sp>
      <p:sp>
        <p:nvSpPr>
          <p:cNvPr id="67" name="Shape 65"/>
          <p:cNvSpPr/>
          <p:nvPr/>
        </p:nvSpPr>
        <p:spPr>
          <a:xfrm>
            <a:off x="856793" y="6492240"/>
            <a:ext cx="411480" cy="411480"/>
          </a:xfrm>
          <a:prstGeom prst="diamond">
            <a:avLst/>
          </a:prstGeom>
          <a:solidFill>
            <a:srgbClr val="EEF3FA"/>
          </a:solidFill>
          <a:ln w="19050">
            <a:solidFill>
              <a:srgbClr val="1E2A5C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1423721" y="6519672"/>
            <a:ext cx="362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B45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분기 판정(마름모)</a:t>
            </a:r>
            <a:endParaRPr lang="en-US" sz="1500" dirty="0"/>
          </a:p>
        </p:txBody>
      </p:sp>
      <p:sp>
        <p:nvSpPr>
          <p:cNvPr id="69" name="Shape 67"/>
          <p:cNvSpPr/>
          <p:nvPr/>
        </p:nvSpPr>
        <p:spPr>
          <a:xfrm>
            <a:off x="5325161" y="6537960"/>
            <a:ext cx="502920" cy="320040"/>
          </a:xfrm>
          <a:prstGeom prst="roundRect">
            <a:avLst>
              <a:gd name="adj" fmla="val 22857"/>
            </a:avLst>
          </a:prstGeom>
          <a:solidFill>
            <a:srgbClr val="FFFFFF"/>
          </a:solidFill>
          <a:ln w="19050">
            <a:solidFill>
              <a:srgbClr val="7C8598"/>
            </a:solidFill>
            <a:prstDash val="dash"/>
          </a:ln>
        </p:spPr>
      </p:sp>
      <p:sp>
        <p:nvSpPr>
          <p:cNvPr id="70" name="Text 68"/>
          <p:cNvSpPr/>
          <p:nvPr/>
        </p:nvSpPr>
        <p:spPr>
          <a:xfrm>
            <a:off x="5965241" y="6519672"/>
            <a:ext cx="362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B45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오류 종료(점선 상자)</a:t>
            </a:r>
            <a:endParaRPr lang="en-US" sz="1500" dirty="0"/>
          </a:p>
        </p:txBody>
      </p:sp>
      <p:sp>
        <p:nvSpPr>
          <p:cNvPr id="71" name="Shape 69"/>
          <p:cNvSpPr/>
          <p:nvPr/>
        </p:nvSpPr>
        <p:spPr>
          <a:xfrm>
            <a:off x="9866681" y="6693408"/>
            <a:ext cx="502920" cy="0"/>
          </a:xfrm>
          <a:prstGeom prst="line">
            <a:avLst/>
          </a:prstGeom>
          <a:noFill/>
          <a:ln w="22225">
            <a:solidFill>
              <a:srgbClr val="4A5364"/>
            </a:solidFill>
            <a:prstDash val="dash"/>
            <a:tailEnd type="triangle"/>
          </a:ln>
        </p:spPr>
      </p:sp>
      <p:sp>
        <p:nvSpPr>
          <p:cNvPr id="72" name="Text 70"/>
          <p:cNvSpPr/>
          <p:nvPr/>
        </p:nvSpPr>
        <p:spPr>
          <a:xfrm>
            <a:off x="10506761" y="6519672"/>
            <a:ext cx="362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B45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예외 경로(점선 화살표)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93247" y="7787945"/>
            <a:ext cx="32918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09321" y="99670"/>
            <a:ext cx="13738860" cy="8284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① Mermaid 도식 스크립트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09321" y="1151230"/>
            <a:ext cx="1362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같은 흐름을 Mermaid 스크립트로도 남겨, mermaid.live에서 바로 고쳐 볼 수 있게 함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09321" y="1737360"/>
            <a:ext cx="8595360" cy="4178808"/>
          </a:xfrm>
          <a:prstGeom prst="roundRect">
            <a:avLst>
              <a:gd name="adj" fmla="val 1751"/>
            </a:avLst>
          </a:prstGeom>
          <a:solidFill>
            <a:srgbClr val="F5F8FC"/>
          </a:solidFill>
          <a:ln w="12700">
            <a:solidFill>
              <a:srgbClr val="D9E0E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6481" y="1847088"/>
            <a:ext cx="8321040" cy="3959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flowchart LR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T((동기 요청)) --&gt; R1[S-R1 검색 요청 접수와 검증]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R1 --&gt; R2[S-R2 정형쿼리 또는 NL2SQL 판단]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R2 --&gt; R3{S-R3 계획 적합성 판정}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R3 -- 적합 --&gt; R4{S-R4 SQL 검증}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R3 -- 부적합, 재시도 남음 --&gt; R2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R3 -- 답할 수 없음 --&gt; R6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R4 -- 통과 --&gt; R5[S-R5 SQL 실행]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R4 -- 실패, 재시도 남음 --&gt; R2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R4 -- 실패, 재시도 소진 --&gt; E1([오류 종료])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R5 -- 성공 --&gt; R6[S-R6 응답 구성과 반환]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R5 -- 실패 --&gt; E2([오류 종료])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R1 -. 요청 거부 .-&gt; E0([오류 종료 예외])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R2 -. LLM 대체 불가 .-&gt; E0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9333281" y="1737360"/>
            <a:ext cx="4800600" cy="1860804"/>
          </a:xfrm>
          <a:prstGeom prst="roundRect">
            <a:avLst>
              <a:gd name="adj" fmla="val 4914"/>
            </a:avLst>
          </a:prstGeom>
          <a:solidFill>
            <a:srgbClr val="EEF3FA"/>
          </a:solidFill>
          <a:ln w="12700">
            <a:solidFill>
              <a:srgbClr val="D9E0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470441" y="1874520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보는 방법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9470441" y="2313432"/>
            <a:ext cx="310896" cy="310896"/>
          </a:xfrm>
          <a:prstGeom prst="roundRect">
            <a:avLst>
              <a:gd name="adj" fmla="val 14706"/>
            </a:avLst>
          </a:prstGeom>
          <a:solidFill>
            <a:srgbClr val="2E74C6"/>
          </a:solidFill>
          <a:ln/>
        </p:spPr>
      </p:sp>
      <p:sp>
        <p:nvSpPr>
          <p:cNvPr id="9" name="Text 7"/>
          <p:cNvSpPr/>
          <p:nvPr/>
        </p:nvSpPr>
        <p:spPr>
          <a:xfrm>
            <a:off x="9470441" y="23134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900209" y="2286000"/>
            <a:ext cx="4069080" cy="3703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B45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mermaid.live/edit 접속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9470441" y="2720340"/>
            <a:ext cx="310896" cy="310896"/>
          </a:xfrm>
          <a:prstGeom prst="roundRect">
            <a:avLst>
              <a:gd name="adj" fmla="val 14706"/>
            </a:avLst>
          </a:prstGeom>
          <a:solidFill>
            <a:srgbClr val="2E74C6"/>
          </a:solidFill>
          <a:ln/>
        </p:spPr>
      </p:sp>
      <p:sp>
        <p:nvSpPr>
          <p:cNvPr id="12" name="Text 10"/>
          <p:cNvSpPr/>
          <p:nvPr/>
        </p:nvSpPr>
        <p:spPr>
          <a:xfrm>
            <a:off x="9470441" y="27203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9900209" y="2692908"/>
            <a:ext cx="4069080" cy="3703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B45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왼쪽에 스크립트 붙여넣기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9470441" y="3127248"/>
            <a:ext cx="310896" cy="310896"/>
          </a:xfrm>
          <a:prstGeom prst="roundRect">
            <a:avLst>
              <a:gd name="adj" fmla="val 14706"/>
            </a:avLst>
          </a:prstGeom>
          <a:solidFill>
            <a:srgbClr val="2E74C6"/>
          </a:solidFill>
          <a:ln/>
        </p:spPr>
      </p:sp>
      <p:sp>
        <p:nvSpPr>
          <p:cNvPr id="15" name="Text 13"/>
          <p:cNvSpPr/>
          <p:nvPr/>
        </p:nvSpPr>
        <p:spPr>
          <a:xfrm>
            <a:off x="9470441" y="31272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9900209" y="3099816"/>
            <a:ext cx="4069080" cy="3703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B45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오른쪽 위 전체보기 아이콘으로 확인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9333281" y="3781044"/>
            <a:ext cx="4800600" cy="488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3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시간 예산 부족(⑥)은 모든 단계에서 생길 수 있어 도식에서는 E0 하나로 묶음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93247" y="7787945"/>
            <a:ext cx="32918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09321" y="99670"/>
            <a:ext cx="13738860" cy="8284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② S-R1 검색 요청 접수와 검증 (개요와 데이터)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09321" y="1151230"/>
            <a:ext cx="1362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요청을 받자마자 형식을 검사하고, 외부 LLM으로 나가기 전에 개인 식별자를 가림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09321" y="1737360"/>
            <a:ext cx="1828800" cy="365760"/>
          </a:xfrm>
          <a:prstGeom prst="roundRect">
            <a:avLst>
              <a:gd name="adj" fmla="val 12500"/>
            </a:avLst>
          </a:prstGeom>
          <a:solidFill>
            <a:srgbClr val="404155"/>
          </a:solidFill>
          <a:ln/>
        </p:spPr>
      </p:sp>
      <p:sp>
        <p:nvSpPr>
          <p:cNvPr id="5" name="Text 3"/>
          <p:cNvSpPr/>
          <p:nvPr/>
        </p:nvSpPr>
        <p:spPr>
          <a:xfrm>
            <a:off x="509321" y="17373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단계 개요</a:t>
            </a:r>
            <a:endParaRPr lang="en-US" sz="16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9321" y="2176272"/>
          <a:ext cx="48463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3474720"/>
              </a:tblGrid>
              <a:tr h="5369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단계ID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S-R1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69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단계명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검색 요청 접수와 검증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</a:tr>
              <a:tr h="5369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이전 단계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트리거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538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비즈니스 목표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잘못된 요청과 없는 회원을 처음에 걸러, 뒤 단계의 LLM 비용과 시간을 아낌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</a:tr>
              <a:tr h="5369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담당자 유형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규칙기반 코드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69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외부시스템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없음(시스템 내부 DB)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</a:tr>
              <a:tr h="9707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비고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이름처럼 정규식으로 못 잡는 식별자는 남을 수 있음(위험 항목 R-04). 회원ID는 이후 LLM에 보내지 않음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584241" y="1737360"/>
            <a:ext cx="3291840" cy="365760"/>
          </a:xfrm>
          <a:prstGeom prst="roundRect">
            <a:avLst>
              <a:gd name="adj" fmla="val 12500"/>
            </a:avLst>
          </a:prstGeom>
          <a:solidFill>
            <a:srgbClr val="404155"/>
          </a:solidFill>
          <a:ln/>
        </p:spPr>
      </p:sp>
      <p:sp>
        <p:nvSpPr>
          <p:cNvPr id="8" name="Text 5"/>
          <p:cNvSpPr/>
          <p:nvPr/>
        </p:nvSpPr>
        <p:spPr>
          <a:xfrm>
            <a:off x="5584241" y="17373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입력 데이터(출처: 트리거)</a:t>
            </a:r>
            <a:endParaRPr lang="en-US" sz="16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84241" y="2176272"/>
          <a:ext cx="8549640" cy="914400"/>
        </p:xfrm>
        <a:graphic>
          <a:graphicData uri="http://schemas.openxmlformats.org/drawingml/2006/table">
            <a:tbl>
              <a:tblPr/>
              <a:tblGrid>
                <a:gridCol w="2163162"/>
                <a:gridCol w="1030077"/>
                <a:gridCol w="1287596"/>
                <a:gridCol w="4068805"/>
              </a:tblGrid>
              <a:tr h="30911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필드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타입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필수 여부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설명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</a:tr>
              <a:tr h="30911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request_id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string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필수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호출 추적 ID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911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question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string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필수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상담사 질문 원문. 1 ~ 500자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</a:tr>
              <a:tr h="30911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member_id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string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필수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상담 중인 회원ID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603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base_date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date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선택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조회 기준일. 없으면 lab_metadata의 데이터 기준일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5584241" y="4048506"/>
            <a:ext cx="3291840" cy="365760"/>
          </a:xfrm>
          <a:prstGeom prst="roundRect">
            <a:avLst>
              <a:gd name="adj" fmla="val 12500"/>
            </a:avLst>
          </a:prstGeom>
          <a:solidFill>
            <a:srgbClr val="404155"/>
          </a:solidFill>
          <a:ln/>
        </p:spPr>
      </p:sp>
      <p:sp>
        <p:nvSpPr>
          <p:cNvPr id="11" name="Text 7"/>
          <p:cNvSpPr/>
          <p:nvPr/>
        </p:nvSpPr>
        <p:spPr>
          <a:xfrm>
            <a:off x="5584241" y="4048506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출력 데이터</a:t>
            </a:r>
            <a:endParaRPr lang="en-US" sz="1600" dirty="0"/>
          </a:p>
        </p:txBody>
      </p:sp>
      <p:graphicFrame>
        <p:nvGraphicFramePr>
          <p:cNvPr id="25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84241" y="4487418"/>
          <a:ext cx="8549640" cy="914400"/>
        </p:xfrm>
        <a:graphic>
          <a:graphicData uri="http://schemas.openxmlformats.org/drawingml/2006/table">
            <a:tbl>
              <a:tblPr/>
              <a:tblGrid>
                <a:gridCol w="2163162"/>
                <a:gridCol w="1030077"/>
                <a:gridCol w="1287596"/>
                <a:gridCol w="4068805"/>
              </a:tblGrid>
              <a:tr h="30911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필드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타입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필수 여부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설명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</a:tr>
              <a:tr h="30911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request_id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string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필수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입력 그대로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911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masked_question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string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필수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개인 식별자를 [가림]으로 바꾼 질문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</a:tr>
              <a:tr h="30911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masked_count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integer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필수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가린 개수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911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member_id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string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필수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세션 변수 전용. LLM에 보내지 않음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</a:tr>
              <a:tr h="30911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base_date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date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필수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확정 기준일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911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coverage_start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date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필수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거래 제공 시작일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</a:tr>
              <a:tr h="30911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started_at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datetime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필수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워크플로우 시작 시각. 남은 시간 계산 기준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911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attempt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integer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필수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계획 시도 횟수. 0으로 시작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93247" y="7787945"/>
            <a:ext cx="32918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09321" y="99670"/>
            <a:ext cx="13738860" cy="8284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② S-R1 검색 요청 접수와 검증 (수행 작업과 예외 처리)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09321" y="1151230"/>
            <a:ext cx="1362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형식 검사, 식별자 가림, 회원 확인을 차례로 하고, 실패하면 바로 오류를 돌려줌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09321" y="1737360"/>
            <a:ext cx="6697980" cy="457200"/>
          </a:xfrm>
          <a:prstGeom prst="roundRect">
            <a:avLst>
              <a:gd name="adj" fmla="val 12000"/>
            </a:avLst>
          </a:prstGeom>
          <a:solidFill>
            <a:srgbClr val="1E2A5C"/>
          </a:solidFill>
          <a:ln/>
        </p:spPr>
      </p:sp>
      <p:sp>
        <p:nvSpPr>
          <p:cNvPr id="5" name="Text 3"/>
          <p:cNvSpPr/>
          <p:nvPr/>
        </p:nvSpPr>
        <p:spPr>
          <a:xfrm>
            <a:off x="509321" y="1737360"/>
            <a:ext cx="66979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수행 작업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7435901" y="1737360"/>
            <a:ext cx="6697980" cy="457200"/>
          </a:xfrm>
          <a:prstGeom prst="roundRect">
            <a:avLst>
              <a:gd name="adj" fmla="val 12000"/>
            </a:avLst>
          </a:prstGeom>
          <a:solidFill>
            <a:srgbClr val="2E74C6"/>
          </a:solidFill>
          <a:ln/>
        </p:spPr>
      </p:sp>
      <p:sp>
        <p:nvSpPr>
          <p:cNvPr id="7" name="Text 5"/>
          <p:cNvSpPr/>
          <p:nvPr/>
        </p:nvSpPr>
        <p:spPr>
          <a:xfrm>
            <a:off x="7435901" y="1737360"/>
            <a:ext cx="66979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예외 처리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509321" y="2304288"/>
            <a:ext cx="6697980" cy="4965192"/>
          </a:xfrm>
          <a:prstGeom prst="roundRect">
            <a:avLst>
              <a:gd name="adj" fmla="val 1842"/>
            </a:avLst>
          </a:prstGeom>
          <a:solidFill>
            <a:srgbClr val="EEF3FA"/>
          </a:solidFill>
          <a:ln w="12700">
            <a:solidFill>
              <a:srgbClr val="D9E0E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6481" y="2470341"/>
            <a:ext cx="310896" cy="310896"/>
          </a:xfrm>
          <a:prstGeom prst="roundRect">
            <a:avLst>
              <a:gd name="adj" fmla="val 14706"/>
            </a:avLst>
          </a:prstGeom>
          <a:solidFill>
            <a:srgbClr val="2E74C6"/>
          </a:solidFill>
          <a:ln/>
        </p:spPr>
      </p:sp>
      <p:sp>
        <p:nvSpPr>
          <p:cNvPr id="10" name="Text 8"/>
          <p:cNvSpPr/>
          <p:nvPr/>
        </p:nvSpPr>
        <p:spPr>
          <a:xfrm>
            <a:off x="646481" y="2470341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76249" y="2442909"/>
            <a:ext cx="5966460" cy="618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B45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started_at을 기록하고 남은 시간 예산을 측정함(⑥). 기준 미달이면 착지 단계로 감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646481" y="3128074"/>
            <a:ext cx="310896" cy="310896"/>
          </a:xfrm>
          <a:prstGeom prst="roundRect">
            <a:avLst>
              <a:gd name="adj" fmla="val 14706"/>
            </a:avLst>
          </a:prstGeom>
          <a:solidFill>
            <a:srgbClr val="2E74C6"/>
          </a:solidFill>
          <a:ln/>
        </p:spPr>
      </p:sp>
      <p:sp>
        <p:nvSpPr>
          <p:cNvPr id="13" name="Text 11"/>
          <p:cNvSpPr/>
          <p:nvPr/>
        </p:nvSpPr>
        <p:spPr>
          <a:xfrm>
            <a:off x="646481" y="312807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076249" y="3100642"/>
            <a:ext cx="5966460" cy="618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B45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필수 필드 검사: question 1 ~ 500자, member_id 형식 M- + 숫자 4자리(설계 가정), base_date 형식 YYYY-MM-DD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646481" y="3785807"/>
            <a:ext cx="310896" cy="310896"/>
          </a:xfrm>
          <a:prstGeom prst="roundRect">
            <a:avLst>
              <a:gd name="adj" fmla="val 14706"/>
            </a:avLst>
          </a:prstGeom>
          <a:solidFill>
            <a:srgbClr val="2E74C6"/>
          </a:solidFill>
          <a:ln/>
        </p:spPr>
      </p:sp>
      <p:sp>
        <p:nvSpPr>
          <p:cNvPr id="16" name="Text 14"/>
          <p:cNvSpPr/>
          <p:nvPr/>
        </p:nvSpPr>
        <p:spPr>
          <a:xfrm>
            <a:off x="646481" y="3785807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076249" y="3758375"/>
            <a:ext cx="5966460" cy="881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B45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식별자 가림: 정규식으로 전화번호, 카드번호(숫자 15 ~ 16자리), 주민등록번호, 이메일, 회원ID 패턴을 [가림]으로 바꾸고 개수를 셈(사용자 결정 D-07)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646481" y="4706938"/>
            <a:ext cx="310896" cy="310896"/>
          </a:xfrm>
          <a:prstGeom prst="roundRect">
            <a:avLst>
              <a:gd name="adj" fmla="val 14706"/>
            </a:avLst>
          </a:prstGeom>
          <a:solidFill>
            <a:srgbClr val="2E74C6"/>
          </a:solidFill>
          <a:ln/>
        </p:spPr>
      </p:sp>
      <p:sp>
        <p:nvSpPr>
          <p:cNvPr id="19" name="Text 17"/>
          <p:cNvSpPr/>
          <p:nvPr/>
        </p:nvSpPr>
        <p:spPr>
          <a:xfrm>
            <a:off x="646481" y="47069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076249" y="4679506"/>
            <a:ext cx="5966460" cy="881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B45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읽기 전용 트랜잭션을 열고 statement_timeout을 남은 시간 예산 이하로 둔 뒤, public.lab_metadata에서 데이터 기준일과 거래 제공 시작일을 읽음(키 이름은 개발 시 확인)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646481" y="5628069"/>
            <a:ext cx="310896" cy="310896"/>
          </a:xfrm>
          <a:prstGeom prst="roundRect">
            <a:avLst>
              <a:gd name="adj" fmla="val 14706"/>
            </a:avLst>
          </a:prstGeom>
          <a:solidFill>
            <a:srgbClr val="2E74C6"/>
          </a:solidFill>
          <a:ln/>
        </p:spPr>
      </p:sp>
      <p:sp>
        <p:nvSpPr>
          <p:cNvPr id="22" name="Text 20"/>
          <p:cNvSpPr/>
          <p:nvPr/>
        </p:nvSpPr>
        <p:spPr>
          <a:xfrm>
            <a:off x="646481" y="5628069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076249" y="5600637"/>
            <a:ext cx="5966460" cy="1145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B45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세션 변수 3개(app.member_id, app.base_date, app.coverage_start)를 set_config(이름, 값, true)로 지정하고 app_internal.member_basic에서 회원이 있는지, 가입일이 기준일 이전인지 확인한 뒤 트랜잭션을 끝냄</a:t>
            </a:r>
            <a:endParaRPr lang="en-US" sz="1700" dirty="0"/>
          </a:p>
        </p:txBody>
      </p:sp>
      <p:sp>
        <p:nvSpPr>
          <p:cNvPr id="24" name="Shape 22"/>
          <p:cNvSpPr/>
          <p:nvPr/>
        </p:nvSpPr>
        <p:spPr>
          <a:xfrm>
            <a:off x="646481" y="6812598"/>
            <a:ext cx="310896" cy="310896"/>
          </a:xfrm>
          <a:prstGeom prst="roundRect">
            <a:avLst>
              <a:gd name="adj" fmla="val 14706"/>
            </a:avLst>
          </a:prstGeom>
          <a:solidFill>
            <a:srgbClr val="2E74C6"/>
          </a:solidFill>
          <a:ln/>
        </p:spPr>
      </p:sp>
      <p:sp>
        <p:nvSpPr>
          <p:cNvPr id="25" name="Text 23"/>
          <p:cNvSpPr/>
          <p:nvPr/>
        </p:nvSpPr>
        <p:spPr>
          <a:xfrm>
            <a:off x="646481" y="681259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1076249" y="6785166"/>
            <a:ext cx="5966460" cy="35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B45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attempt를 0으로 두고 출력 데이터를 만듦</a:t>
            </a:r>
            <a:endParaRPr lang="en-US" sz="1700" dirty="0"/>
          </a:p>
        </p:txBody>
      </p:sp>
      <p:sp>
        <p:nvSpPr>
          <p:cNvPr id="27" name="Shape 25"/>
          <p:cNvSpPr/>
          <p:nvPr/>
        </p:nvSpPr>
        <p:spPr>
          <a:xfrm>
            <a:off x="7435901" y="2304288"/>
            <a:ext cx="6697980" cy="4965192"/>
          </a:xfrm>
          <a:prstGeom prst="roundRect">
            <a:avLst>
              <a:gd name="adj" fmla="val 1842"/>
            </a:avLst>
          </a:prstGeom>
          <a:solidFill>
            <a:srgbClr val="F5F8FC"/>
          </a:solidFill>
          <a:ln w="12700">
            <a:solidFill>
              <a:srgbClr val="D9E0E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600493" y="2601468"/>
            <a:ext cx="6259068" cy="618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3B45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필드 누락, 형식 오류, 500자 초과, 기준일이 데이터 기준일보다 뒤 → INVALID_REQUEST(400)로 오류 종료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7600493" y="3576320"/>
            <a:ext cx="6259068" cy="618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3B45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회원 없음 또는 기준일에 아직 가입 전 → MEMBER_NOT_FOUND(404)로 오류 종료</a:t>
            </a:r>
            <a:endParaRPr lang="en-US" sz="1700" dirty="0"/>
          </a:p>
        </p:txBody>
      </p:sp>
      <p:sp>
        <p:nvSpPr>
          <p:cNvPr id="30" name="Text 28"/>
          <p:cNvSpPr/>
          <p:nvPr/>
        </p:nvSpPr>
        <p:spPr>
          <a:xfrm>
            <a:off x="7600493" y="4551172"/>
            <a:ext cx="6259068" cy="35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3B45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DB 접속 또는 조회 실패 → DB_ERROR(500)로 오류 종료</a:t>
            </a:r>
            <a:endParaRPr lang="en-US" sz="1700" dirty="0"/>
          </a:p>
        </p:txBody>
      </p:sp>
      <p:sp>
        <p:nvSpPr>
          <p:cNvPr id="31" name="Text 29"/>
          <p:cNvSpPr/>
          <p:nvPr/>
        </p:nvSpPr>
        <p:spPr>
          <a:xfrm>
            <a:off x="7600493" y="5262626"/>
            <a:ext cx="6259068" cy="618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3B45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시작 전 남은 시간 예산 부족 → TIME_BUDGET_EXCEEDED(504)로 오류 종료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93247" y="7787945"/>
            <a:ext cx="32918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09321" y="99670"/>
            <a:ext cx="13738860" cy="8284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② S-R2 정형쿼리 또는 NL2SQL 판단 (개요와 데이터)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09321" y="1151230"/>
            <a:ext cx="1362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LLM이 정형쿼리로 답할지, SQL을 새로 만들지를 정해 계획(plan) 하나로 돌려줌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09321" y="1737360"/>
            <a:ext cx="1828800" cy="365760"/>
          </a:xfrm>
          <a:prstGeom prst="roundRect">
            <a:avLst>
              <a:gd name="adj" fmla="val 12500"/>
            </a:avLst>
          </a:prstGeom>
          <a:solidFill>
            <a:srgbClr val="404155"/>
          </a:solidFill>
          <a:ln/>
        </p:spPr>
      </p:sp>
      <p:sp>
        <p:nvSpPr>
          <p:cNvPr id="5" name="Text 3"/>
          <p:cNvSpPr/>
          <p:nvPr/>
        </p:nvSpPr>
        <p:spPr>
          <a:xfrm>
            <a:off x="509321" y="17373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단계 개요</a:t>
            </a:r>
            <a:endParaRPr lang="en-US" sz="16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9321" y="2176272"/>
          <a:ext cx="48463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3474720"/>
              </a:tblGrid>
              <a:tr h="5151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단계ID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S-R2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51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단계명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정형쿼리 또는 NL2SQL 판단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</a:tr>
              <a:tr h="1010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이전 단계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S-R1 검색 요청 접수와 검증, S-R3 계획 적합성 판정(부적합 시), S-R4 SQL 검증(실패 시)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10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비즈니스 목표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검사된 정형쿼리를 먼저 써서 정확도를 지키고, 정형쿼리로 못 답하는 질문만 NL2SQL로 넓힘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</a:tr>
              <a:tr h="7630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담당자 유형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생성형AI + 규칙기반 코드(LLM 실패 시 키워드 규칙)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51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외부시스템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Groq LLM API(C-01)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</a:tr>
              <a:tr h="7630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비고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반복 구간 L-1의 시작 단계. 시스템 프롬프트 전문은 이 스크립트 부록 A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584241" y="1737360"/>
            <a:ext cx="3291840" cy="365760"/>
          </a:xfrm>
          <a:prstGeom prst="roundRect">
            <a:avLst>
              <a:gd name="adj" fmla="val 12500"/>
            </a:avLst>
          </a:prstGeom>
          <a:solidFill>
            <a:srgbClr val="404155"/>
          </a:solidFill>
          <a:ln/>
        </p:spPr>
      </p:sp>
      <p:sp>
        <p:nvSpPr>
          <p:cNvPr id="8" name="Text 5"/>
          <p:cNvSpPr/>
          <p:nvPr/>
        </p:nvSpPr>
        <p:spPr>
          <a:xfrm>
            <a:off x="5584241" y="17373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입력 데이터</a:t>
            </a:r>
            <a:endParaRPr lang="en-US" sz="16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84241" y="2176272"/>
          <a:ext cx="8549640" cy="914400"/>
        </p:xfrm>
        <a:graphic>
          <a:graphicData uri="http://schemas.openxmlformats.org/drawingml/2006/table">
            <a:tbl>
              <a:tblPr/>
              <a:tblGrid>
                <a:gridCol w="2163162"/>
                <a:gridCol w="1030077"/>
                <a:gridCol w="1287596"/>
                <a:gridCol w="4068805"/>
              </a:tblGrid>
              <a:tr h="36806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필드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타입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필수 여부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출처와 설명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</a:tr>
              <a:tr h="36806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masked_question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string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필수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S-R1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806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base_date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date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필수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S-R1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</a:tr>
              <a:tr h="36806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coverage_start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date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필수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S-R1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806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attempt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integer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필수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첫 회 S-R1, 되돌아오면 S-R3 또는 S-R4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</a:tr>
              <a:tr h="36806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retry_reason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string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선택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S-R3 또는 S-R4. 첫 회 없음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806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previous_sql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string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선택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S-R4. 검증에 실패한 SQL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5584241" y="4862484"/>
            <a:ext cx="3291840" cy="365760"/>
          </a:xfrm>
          <a:prstGeom prst="roundRect">
            <a:avLst>
              <a:gd name="adj" fmla="val 12500"/>
            </a:avLst>
          </a:prstGeom>
          <a:solidFill>
            <a:srgbClr val="404155"/>
          </a:solidFill>
          <a:ln/>
        </p:spPr>
      </p:sp>
      <p:sp>
        <p:nvSpPr>
          <p:cNvPr id="11" name="Text 7"/>
          <p:cNvSpPr/>
          <p:nvPr/>
        </p:nvSpPr>
        <p:spPr>
          <a:xfrm>
            <a:off x="5584241" y="4862484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출력 데이터</a:t>
            </a:r>
            <a:endParaRPr lang="en-US" sz="1600" dirty="0"/>
          </a:p>
        </p:txBody>
      </p:sp>
      <p:graphicFrame>
        <p:nvGraphicFramePr>
          <p:cNvPr id="31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84241" y="5301396"/>
          <a:ext cx="8549640" cy="914400"/>
        </p:xfrm>
        <a:graphic>
          <a:graphicData uri="http://schemas.openxmlformats.org/drawingml/2006/table">
            <a:tbl>
              <a:tblPr/>
              <a:tblGrid>
                <a:gridCol w="2163162"/>
                <a:gridCol w="1030077"/>
                <a:gridCol w="1287596"/>
                <a:gridCol w="4068805"/>
              </a:tblGrid>
              <a:tr h="36806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필드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타입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필수 여부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설명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</a:tr>
              <a:tr h="86387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plan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필수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route, query_id, sql, target_views, requested_period, reason. 구조는 커넥터 응답 데이터 구조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806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plan_source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string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필수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LLM 또는 KEYWORD_RULE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</a:tr>
              <a:tr h="36806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attempt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integer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필수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 늘린 값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93247" y="7787945"/>
            <a:ext cx="32918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09321" y="99670"/>
            <a:ext cx="13738860" cy="8284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② S-R2 정형쿼리 또는 NL2SQL 판단 (수행 작업과 예외 처리)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09321" y="1151230"/>
            <a:ext cx="1362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LLM 호출은 5초 안에 끝내고, 실패하면 키워드 규칙으로 정형쿼리를 고르는 대체 경로로 감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09321" y="1737360"/>
            <a:ext cx="6697980" cy="457200"/>
          </a:xfrm>
          <a:prstGeom prst="roundRect">
            <a:avLst>
              <a:gd name="adj" fmla="val 12000"/>
            </a:avLst>
          </a:prstGeom>
          <a:solidFill>
            <a:srgbClr val="1E2A5C"/>
          </a:solidFill>
          <a:ln/>
        </p:spPr>
      </p:sp>
      <p:sp>
        <p:nvSpPr>
          <p:cNvPr id="5" name="Text 3"/>
          <p:cNvSpPr/>
          <p:nvPr/>
        </p:nvSpPr>
        <p:spPr>
          <a:xfrm>
            <a:off x="509321" y="1737360"/>
            <a:ext cx="66979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수행 작업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7435901" y="1737360"/>
            <a:ext cx="6697980" cy="457200"/>
          </a:xfrm>
          <a:prstGeom prst="roundRect">
            <a:avLst>
              <a:gd name="adj" fmla="val 12000"/>
            </a:avLst>
          </a:prstGeom>
          <a:solidFill>
            <a:srgbClr val="2E74C6"/>
          </a:solidFill>
          <a:ln/>
        </p:spPr>
      </p:sp>
      <p:sp>
        <p:nvSpPr>
          <p:cNvPr id="7" name="Text 5"/>
          <p:cNvSpPr/>
          <p:nvPr/>
        </p:nvSpPr>
        <p:spPr>
          <a:xfrm>
            <a:off x="7435901" y="1737360"/>
            <a:ext cx="66979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예외 처리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509321" y="2304288"/>
            <a:ext cx="6697980" cy="4965192"/>
          </a:xfrm>
          <a:prstGeom prst="roundRect">
            <a:avLst>
              <a:gd name="adj" fmla="val 1842"/>
            </a:avLst>
          </a:prstGeom>
          <a:solidFill>
            <a:srgbClr val="EEF3FA"/>
          </a:solidFill>
          <a:ln w="12700">
            <a:solidFill>
              <a:srgbClr val="D9E0E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6481" y="2599639"/>
            <a:ext cx="310896" cy="310896"/>
          </a:xfrm>
          <a:prstGeom prst="roundRect">
            <a:avLst>
              <a:gd name="adj" fmla="val 14706"/>
            </a:avLst>
          </a:prstGeom>
          <a:solidFill>
            <a:srgbClr val="2E74C6"/>
          </a:solidFill>
          <a:ln/>
        </p:spPr>
      </p:sp>
      <p:sp>
        <p:nvSpPr>
          <p:cNvPr id="10" name="Text 8"/>
          <p:cNvSpPr/>
          <p:nvPr/>
        </p:nvSpPr>
        <p:spPr>
          <a:xfrm>
            <a:off x="646481" y="2599639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76249" y="2572207"/>
            <a:ext cx="596646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B45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남은 시간 예산을 측정함(⑥). 기준 미달이면 착지(키워드 규칙 대체 경로)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646481" y="3546958"/>
            <a:ext cx="310896" cy="310896"/>
          </a:xfrm>
          <a:prstGeom prst="roundRect">
            <a:avLst>
              <a:gd name="adj" fmla="val 14706"/>
            </a:avLst>
          </a:prstGeom>
          <a:solidFill>
            <a:srgbClr val="2E74C6"/>
          </a:solidFill>
          <a:ln/>
        </p:spPr>
      </p:sp>
      <p:sp>
        <p:nvSpPr>
          <p:cNvPr id="13" name="Text 11"/>
          <p:cNvSpPr/>
          <p:nvPr/>
        </p:nvSpPr>
        <p:spPr>
          <a:xfrm>
            <a:off x="646481" y="354695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076249" y="3519526"/>
            <a:ext cx="5966460" cy="3703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B45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attempt를 1 늘림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646481" y="4215384"/>
            <a:ext cx="310896" cy="310896"/>
          </a:xfrm>
          <a:prstGeom prst="roundRect">
            <a:avLst>
              <a:gd name="adj" fmla="val 14706"/>
            </a:avLst>
          </a:prstGeom>
          <a:solidFill>
            <a:srgbClr val="2E74C6"/>
          </a:solidFill>
          <a:ln/>
        </p:spPr>
      </p:sp>
      <p:sp>
        <p:nvSpPr>
          <p:cNvPr id="16" name="Text 14"/>
          <p:cNvSpPr/>
          <p:nvPr/>
        </p:nvSpPr>
        <p:spPr>
          <a:xfrm>
            <a:off x="646481" y="42153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076249" y="4187952"/>
            <a:ext cx="5966460" cy="9281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B45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유저 프롬프트를 조립함(masked_question, base_date, coverage_start, attempt, retry_reason, previous_sql). member_id는 넣지 않음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646481" y="5441594"/>
            <a:ext cx="310896" cy="310896"/>
          </a:xfrm>
          <a:prstGeom prst="roundRect">
            <a:avLst>
              <a:gd name="adj" fmla="val 14706"/>
            </a:avLst>
          </a:prstGeom>
          <a:solidFill>
            <a:srgbClr val="2E74C6"/>
          </a:solidFill>
          <a:ln/>
        </p:spPr>
      </p:sp>
      <p:sp>
        <p:nvSpPr>
          <p:cNvPr id="19" name="Text 17"/>
          <p:cNvSpPr/>
          <p:nvPr/>
        </p:nvSpPr>
        <p:spPr>
          <a:xfrm>
            <a:off x="646481" y="544159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076249" y="5414162"/>
            <a:ext cx="596646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B45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C-01을 호출함: timeout 5초, SDK max_retries 0, response_format json_schema strict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646481" y="6388913"/>
            <a:ext cx="310896" cy="310896"/>
          </a:xfrm>
          <a:prstGeom prst="roundRect">
            <a:avLst>
              <a:gd name="adj" fmla="val 14706"/>
            </a:avLst>
          </a:prstGeom>
          <a:solidFill>
            <a:srgbClr val="2E74C6"/>
          </a:solidFill>
          <a:ln/>
        </p:spPr>
      </p:sp>
      <p:sp>
        <p:nvSpPr>
          <p:cNvPr id="22" name="Text 20"/>
          <p:cNvSpPr/>
          <p:nvPr/>
        </p:nvSpPr>
        <p:spPr>
          <a:xfrm>
            <a:off x="646481" y="6388913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076249" y="6361481"/>
            <a:ext cx="596646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B45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응답 JSON을 plan으로 읽고 plan_source를 LLM으로 둠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7435901" y="2304288"/>
            <a:ext cx="6697980" cy="4965192"/>
          </a:xfrm>
          <a:prstGeom prst="roundRect">
            <a:avLst>
              <a:gd name="adj" fmla="val 1842"/>
            </a:avLst>
          </a:prstGeom>
          <a:solidFill>
            <a:srgbClr val="F5F8FC"/>
          </a:solidFill>
          <a:ln w="12700">
            <a:solidFill>
              <a:srgbClr val="D9E0E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600493" y="2601468"/>
            <a:ext cx="6259068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3B45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타임아웃, 연결 오류, 429(요청 한도 초과), 5xx, 400 → 재시도 없이 대체 경로: 부록 「정형쿼리 목록」의 키워드 규칙으로 정형쿼리 1개를 골라 plan(route FIXED)을 만들고 plan_source를 KEYWORD_RULE로 둠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7600493" y="4165092"/>
            <a:ext cx="6259068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3B45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키워드 규칙에도 맞는 정형쿼리가 없음 → LLM_UNAVAILABLE(503)로 오류 종료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7600493" y="5170932"/>
            <a:ext cx="6259068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3B45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LLM이 답을 거절함(refusal) → route UNANSWERABLE 계획으로 S-R3에 넘김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7600493" y="6176772"/>
            <a:ext cx="6259068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3B45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429의 retry-after는 기록만 하고 기다리지 않음(시간 예산 보호)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93247" y="7787945"/>
            <a:ext cx="32918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09321" y="99670"/>
            <a:ext cx="13738860" cy="8284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② S-R3 계획 적합성 판정 (개요와 데이터)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09321" y="1151230"/>
            <a:ext cx="1362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계획이 실제로 실행할 수 있고 데이터 제공 기간 안인지 규칙으로 판정함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09321" y="1737360"/>
            <a:ext cx="1828800" cy="365760"/>
          </a:xfrm>
          <a:prstGeom prst="roundRect">
            <a:avLst>
              <a:gd name="adj" fmla="val 12500"/>
            </a:avLst>
          </a:prstGeom>
          <a:solidFill>
            <a:srgbClr val="404155"/>
          </a:solidFill>
          <a:ln/>
        </p:spPr>
      </p:sp>
      <p:sp>
        <p:nvSpPr>
          <p:cNvPr id="5" name="Text 3"/>
          <p:cNvSpPr/>
          <p:nvPr/>
        </p:nvSpPr>
        <p:spPr>
          <a:xfrm>
            <a:off x="509321" y="17373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단계 개요</a:t>
            </a:r>
            <a:endParaRPr lang="en-US" sz="16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9321" y="2176272"/>
          <a:ext cx="48463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3474720"/>
              </a:tblGrid>
              <a:tr h="5524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단계ID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S-R3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24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단계명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계획 적합성 판정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</a:tr>
              <a:tr h="5524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이전 단계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S-R2 정형쿼리 또는 NL2SQL 판단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1727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비즈니스 목표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쓸모없는 SQL 검증과 실행을 막고, 답할 수 없는 질문은 빨리 "답할 수 없음"으로 알림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</a:tr>
              <a:tr h="5524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담당자 유형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규칙기반 코드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24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외부시스템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없음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</a:tr>
              <a:tr h="1249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비고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기간 판정 기준은 뷰 정의(04 ~ 06 SQL)에서 가져옴. 데이터 제공 기간 밖이면 다시 계획해도 바뀌지 않아 재시도 안 함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584241" y="1737360"/>
            <a:ext cx="3291840" cy="365760"/>
          </a:xfrm>
          <a:prstGeom prst="roundRect">
            <a:avLst>
              <a:gd name="adj" fmla="val 12500"/>
            </a:avLst>
          </a:prstGeom>
          <a:solidFill>
            <a:srgbClr val="404155"/>
          </a:solidFill>
          <a:ln/>
        </p:spPr>
      </p:sp>
      <p:sp>
        <p:nvSpPr>
          <p:cNvPr id="8" name="Text 5"/>
          <p:cNvSpPr/>
          <p:nvPr/>
        </p:nvSpPr>
        <p:spPr>
          <a:xfrm>
            <a:off x="5584241" y="17373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입력 데이터</a:t>
            </a:r>
            <a:endParaRPr lang="en-US" sz="1600" dirty="0"/>
          </a:p>
        </p:txBody>
      </p:sp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84241" y="2176272"/>
          <a:ext cx="8549640" cy="914400"/>
        </p:xfrm>
        <a:graphic>
          <a:graphicData uri="http://schemas.openxmlformats.org/drawingml/2006/table">
            <a:tbl>
              <a:tblPr/>
              <a:tblGrid>
                <a:gridCol w="2163162"/>
                <a:gridCol w="1030077"/>
                <a:gridCol w="1287596"/>
                <a:gridCol w="4068805"/>
              </a:tblGrid>
              <a:tr h="3317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필드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타입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필수 여부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출처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</a:tr>
              <a:tr h="3317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plan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필수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S-R2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17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plan_source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string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필수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S-R2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</a:tr>
              <a:tr h="3317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attempt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integer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필수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S-R2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17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base_date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date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필수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S-R1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</a:tr>
              <a:tr h="3317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coverage_start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date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필수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S-R1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5584241" y="4276227"/>
            <a:ext cx="3291840" cy="365760"/>
          </a:xfrm>
          <a:prstGeom prst="roundRect">
            <a:avLst>
              <a:gd name="adj" fmla="val 12500"/>
            </a:avLst>
          </a:prstGeom>
          <a:solidFill>
            <a:srgbClr val="404155"/>
          </a:solidFill>
          <a:ln/>
        </p:spPr>
      </p:sp>
      <p:sp>
        <p:nvSpPr>
          <p:cNvPr id="11" name="Text 7"/>
          <p:cNvSpPr/>
          <p:nvPr/>
        </p:nvSpPr>
        <p:spPr>
          <a:xfrm>
            <a:off x="5584241" y="4276227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출력 데이터</a:t>
            </a:r>
            <a:endParaRPr lang="en-US" sz="1600" dirty="0"/>
          </a:p>
        </p:txBody>
      </p:sp>
      <p:graphicFrame>
        <p:nvGraphicFramePr>
          <p:cNvPr id="37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84241" y="4715139"/>
          <a:ext cx="8549640" cy="914400"/>
        </p:xfrm>
        <a:graphic>
          <a:graphicData uri="http://schemas.openxmlformats.org/drawingml/2006/table">
            <a:tbl>
              <a:tblPr/>
              <a:tblGrid>
                <a:gridCol w="2163162"/>
                <a:gridCol w="1030077"/>
                <a:gridCol w="1287596"/>
                <a:gridCol w="4068805"/>
              </a:tblGrid>
              <a:tr h="3317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필드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타입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필수 여부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설명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</a:tr>
              <a:tr h="3317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verdict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string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필수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FIT, UNFIT, UNANSWERABLE 중 하나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17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candidate_sql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string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선택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FIT일 때 검증할 SQL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</a:tr>
              <a:tr h="3317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sql_source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string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선택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FIXED 또는 NL2SQL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17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query_id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string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선택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정형쿼리ID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</a:tr>
              <a:tr h="3317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retry_reason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string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선택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UNFIT 사유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411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unanswerable_reason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string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선택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답할 수 없는 이유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93247" y="7787945"/>
            <a:ext cx="32918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09321" y="99670"/>
            <a:ext cx="13738860" cy="8284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② S-R3 계획 적합성 판정 (수행 작업과 예외 처리)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09321" y="1151230"/>
            <a:ext cx="1362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적합하면 S-R4, 부적합이면 S-R2로 1회 되돌리고, 답할 수 없으면 S-R6으로 보냄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09321" y="1737360"/>
            <a:ext cx="6697980" cy="457200"/>
          </a:xfrm>
          <a:prstGeom prst="roundRect">
            <a:avLst>
              <a:gd name="adj" fmla="val 12000"/>
            </a:avLst>
          </a:prstGeom>
          <a:solidFill>
            <a:srgbClr val="1E2A5C"/>
          </a:solidFill>
          <a:ln/>
        </p:spPr>
      </p:sp>
      <p:sp>
        <p:nvSpPr>
          <p:cNvPr id="5" name="Text 3"/>
          <p:cNvSpPr/>
          <p:nvPr/>
        </p:nvSpPr>
        <p:spPr>
          <a:xfrm>
            <a:off x="509321" y="1737360"/>
            <a:ext cx="66979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수행 작업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7435901" y="1737360"/>
            <a:ext cx="6697980" cy="457200"/>
          </a:xfrm>
          <a:prstGeom prst="roundRect">
            <a:avLst>
              <a:gd name="adj" fmla="val 12000"/>
            </a:avLst>
          </a:prstGeom>
          <a:solidFill>
            <a:srgbClr val="2E74C6"/>
          </a:solidFill>
          <a:ln/>
        </p:spPr>
      </p:sp>
      <p:sp>
        <p:nvSpPr>
          <p:cNvPr id="7" name="Text 5"/>
          <p:cNvSpPr/>
          <p:nvPr/>
        </p:nvSpPr>
        <p:spPr>
          <a:xfrm>
            <a:off x="7435901" y="1737360"/>
            <a:ext cx="66979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예외 처리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509321" y="2304288"/>
            <a:ext cx="6697980" cy="4965192"/>
          </a:xfrm>
          <a:prstGeom prst="roundRect">
            <a:avLst>
              <a:gd name="adj" fmla="val 1842"/>
            </a:avLst>
          </a:prstGeom>
          <a:solidFill>
            <a:srgbClr val="EEF3FA"/>
          </a:solidFill>
          <a:ln w="12700">
            <a:solidFill>
              <a:srgbClr val="D9E0E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6481" y="2474214"/>
            <a:ext cx="310896" cy="310896"/>
          </a:xfrm>
          <a:prstGeom prst="roundRect">
            <a:avLst>
              <a:gd name="adj" fmla="val 14706"/>
            </a:avLst>
          </a:prstGeom>
          <a:solidFill>
            <a:srgbClr val="2E74C6"/>
          </a:solidFill>
          <a:ln/>
        </p:spPr>
      </p:sp>
      <p:sp>
        <p:nvSpPr>
          <p:cNvPr id="10" name="Text 8"/>
          <p:cNvSpPr/>
          <p:nvPr/>
        </p:nvSpPr>
        <p:spPr>
          <a:xfrm>
            <a:off x="646481" y="247421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76249" y="2446782"/>
            <a:ext cx="5966460" cy="3703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B45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남은 시간 예산을 측정함(⑥)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646481" y="2891790"/>
            <a:ext cx="310896" cy="310896"/>
          </a:xfrm>
          <a:prstGeom prst="roundRect">
            <a:avLst>
              <a:gd name="adj" fmla="val 14706"/>
            </a:avLst>
          </a:prstGeom>
          <a:solidFill>
            <a:srgbClr val="2E74C6"/>
          </a:solidFill>
          <a:ln/>
        </p:spPr>
      </p:sp>
      <p:sp>
        <p:nvSpPr>
          <p:cNvPr id="13" name="Text 11"/>
          <p:cNvSpPr/>
          <p:nvPr/>
        </p:nvSpPr>
        <p:spPr>
          <a:xfrm>
            <a:off x="646481" y="289179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076249" y="2864358"/>
            <a:ext cx="596646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B45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route가 UNANSWERABLE이면 verdict UNANSWERABLE(사유는 plan.reason)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646481" y="3588258"/>
            <a:ext cx="310896" cy="310896"/>
          </a:xfrm>
          <a:prstGeom prst="roundRect">
            <a:avLst>
              <a:gd name="adj" fmla="val 14706"/>
            </a:avLst>
          </a:prstGeom>
          <a:solidFill>
            <a:srgbClr val="2E74C6"/>
          </a:solidFill>
          <a:ln/>
        </p:spPr>
      </p:sp>
      <p:sp>
        <p:nvSpPr>
          <p:cNvPr id="16" name="Text 14"/>
          <p:cNvSpPr/>
          <p:nvPr/>
        </p:nvSpPr>
        <p:spPr>
          <a:xfrm>
            <a:off x="646481" y="358825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076249" y="3560826"/>
            <a:ext cx="596646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B45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route가 FIXED이면 query_id가 FQ-01 ~ FQ-08 중 하나인지 확인하고, 등록된 SQL을 candidate_sql로 둠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646481" y="4284726"/>
            <a:ext cx="310896" cy="310896"/>
          </a:xfrm>
          <a:prstGeom prst="roundRect">
            <a:avLst>
              <a:gd name="adj" fmla="val 14706"/>
            </a:avLst>
          </a:prstGeom>
          <a:solidFill>
            <a:srgbClr val="2E74C6"/>
          </a:solidFill>
          <a:ln/>
        </p:spPr>
      </p:sp>
      <p:sp>
        <p:nvSpPr>
          <p:cNvPr id="19" name="Text 17"/>
          <p:cNvSpPr/>
          <p:nvPr/>
        </p:nvSpPr>
        <p:spPr>
          <a:xfrm>
            <a:off x="646481" y="428472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076249" y="4257294"/>
            <a:ext cx="596646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B45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route가 NL2SQL이면 sql이 비어 있지 않은지, target_views가 허용 뷰 7개 안인지 확인함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646481" y="4981194"/>
            <a:ext cx="310896" cy="310896"/>
          </a:xfrm>
          <a:prstGeom prst="roundRect">
            <a:avLst>
              <a:gd name="adj" fmla="val 14706"/>
            </a:avLst>
          </a:prstGeom>
          <a:solidFill>
            <a:srgbClr val="2E74C6"/>
          </a:solidFill>
          <a:ln/>
        </p:spPr>
      </p:sp>
      <p:sp>
        <p:nvSpPr>
          <p:cNvPr id="22" name="Text 20"/>
          <p:cNvSpPr/>
          <p:nvPr/>
        </p:nvSpPr>
        <p:spPr>
          <a:xfrm>
            <a:off x="646481" y="498119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076249" y="4953762"/>
            <a:ext cx="596646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B45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requested_period가 있으면 대상 뷰의 제공 기간(월 집계 6개월, 일별 90일, 연체 이력 12개월) 안이고 기준일 이전인지 확인. 밖이면 verdict UNANSWERABLE(데이터 제공 기간 밖)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646481" y="6235446"/>
            <a:ext cx="310896" cy="310896"/>
          </a:xfrm>
          <a:prstGeom prst="roundRect">
            <a:avLst>
              <a:gd name="adj" fmla="val 14706"/>
            </a:avLst>
          </a:prstGeom>
          <a:solidFill>
            <a:srgbClr val="2E74C6"/>
          </a:solidFill>
          <a:ln/>
        </p:spPr>
      </p:sp>
      <p:sp>
        <p:nvSpPr>
          <p:cNvPr id="25" name="Text 23"/>
          <p:cNvSpPr/>
          <p:nvPr/>
        </p:nvSpPr>
        <p:spPr>
          <a:xfrm>
            <a:off x="646481" y="623544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1076249" y="6208014"/>
            <a:ext cx="5966460" cy="9281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B45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단계 결정: FIT → S-R4 / UNFIT이고 attempt 1 → S-R2 / UNFIT이고 attempt 2 → UNANSWERABLE로 바꿔 S-R6 / UNANSWERABLE → S-R6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7435901" y="2304288"/>
            <a:ext cx="6697980" cy="4965192"/>
          </a:xfrm>
          <a:prstGeom prst="roundRect">
            <a:avLst>
              <a:gd name="adj" fmla="val 1842"/>
            </a:avLst>
          </a:prstGeom>
          <a:solidFill>
            <a:srgbClr val="F5F8FC"/>
          </a:solidFill>
          <a:ln w="12700">
            <a:solidFill>
              <a:srgbClr val="D9E0E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600493" y="2601468"/>
            <a:ext cx="6259068" cy="3703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3B45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plan 필드 누락(구조화 출력이라 드묾) → UNFIT으로 처리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7600493" y="3328416"/>
            <a:ext cx="6259068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3B45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3, 4번 확인 실패 → UNFIT, retry_reason에 사유 코드(예: UNKNOWN_QUERY_ID, VIEW_NOT_ALLOWED)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7600493" y="4334256"/>
            <a:ext cx="6259068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3B45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오류 종료 없음: 재시도를 다 써도 "답할 수 없음" 정상 응답으로 끝냄(사용자 결정 D-08)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93247" y="7787945"/>
            <a:ext cx="32918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09321" y="99670"/>
            <a:ext cx="13738860" cy="8284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② S-R4 SQL 검증 (개요와 데이터)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09321" y="1151230"/>
            <a:ext cx="1362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LLM이 만든 SQL은 이 검사를 통과하기 전에는 절대 실행하지 않음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09321" y="1737360"/>
            <a:ext cx="1828800" cy="365760"/>
          </a:xfrm>
          <a:prstGeom prst="roundRect">
            <a:avLst>
              <a:gd name="adj" fmla="val 12500"/>
            </a:avLst>
          </a:prstGeom>
          <a:solidFill>
            <a:srgbClr val="404155"/>
          </a:solidFill>
          <a:ln/>
        </p:spPr>
      </p:sp>
      <p:sp>
        <p:nvSpPr>
          <p:cNvPr id="5" name="Text 3"/>
          <p:cNvSpPr/>
          <p:nvPr/>
        </p:nvSpPr>
        <p:spPr>
          <a:xfrm>
            <a:off x="509321" y="17373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단계 개요</a:t>
            </a:r>
            <a:endParaRPr lang="en-US" sz="16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9321" y="2176272"/>
          <a:ext cx="48463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3474720"/>
              </a:tblGrid>
              <a:tr h="5679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단계ID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S-R4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79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단계명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SQL 검증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</a:tr>
              <a:tr h="5679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이전 단계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S-R3 계획 적합성 판정(FIT)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63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비즈니스 목표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허용한 뷰, 컬럼, 함수만 읽는 SELECT 한 문장만 통과시켜 데이터 유출과 DB 부담을 막음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</a:tr>
              <a:tr h="5679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담당자 유형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규칙기반 코드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79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외부시스템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없음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</a:tr>
              <a:tr h="1063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비고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정형쿼리도 같은 검사를 거침(이중 안전장치). 검증 규칙 전체는 부록 「SQL 검증 규칙」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584241" y="1737360"/>
            <a:ext cx="3291840" cy="365760"/>
          </a:xfrm>
          <a:prstGeom prst="roundRect">
            <a:avLst>
              <a:gd name="adj" fmla="val 12500"/>
            </a:avLst>
          </a:prstGeom>
          <a:solidFill>
            <a:srgbClr val="404155"/>
          </a:solidFill>
          <a:ln/>
        </p:spPr>
      </p:sp>
      <p:sp>
        <p:nvSpPr>
          <p:cNvPr id="8" name="Text 5"/>
          <p:cNvSpPr/>
          <p:nvPr/>
        </p:nvSpPr>
        <p:spPr>
          <a:xfrm>
            <a:off x="5584241" y="17373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입력 데이터</a:t>
            </a:r>
            <a:endParaRPr lang="en-US" sz="1600" dirty="0"/>
          </a:p>
        </p:txBody>
      </p:sp>
      <p:graphicFrame>
        <p:nvGraphicFramePr>
          <p:cNvPr id="2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84241" y="2176272"/>
          <a:ext cx="8549640" cy="914400"/>
        </p:xfrm>
        <a:graphic>
          <a:graphicData uri="http://schemas.openxmlformats.org/drawingml/2006/table">
            <a:tbl>
              <a:tblPr/>
              <a:tblGrid>
                <a:gridCol w="2163162"/>
                <a:gridCol w="1030077"/>
                <a:gridCol w="1287596"/>
                <a:gridCol w="4068805"/>
              </a:tblGrid>
              <a:tr h="45445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필드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타입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필수 여부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출처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</a:tr>
              <a:tr h="45445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candidate_sql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string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필수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S-R3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445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sql_source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string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필수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S-R3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</a:tr>
              <a:tr h="45445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query_id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string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선택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S-R3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445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attempt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integer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필수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S-R2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5584241" y="4558284"/>
            <a:ext cx="3291840" cy="365760"/>
          </a:xfrm>
          <a:prstGeom prst="roundRect">
            <a:avLst>
              <a:gd name="adj" fmla="val 12500"/>
            </a:avLst>
          </a:prstGeom>
          <a:solidFill>
            <a:srgbClr val="404155"/>
          </a:solidFill>
          <a:ln/>
        </p:spPr>
      </p:sp>
      <p:sp>
        <p:nvSpPr>
          <p:cNvPr id="11" name="Text 7"/>
          <p:cNvSpPr/>
          <p:nvPr/>
        </p:nvSpPr>
        <p:spPr>
          <a:xfrm>
            <a:off x="5584241" y="4558284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출력 데이터</a:t>
            </a:r>
            <a:endParaRPr lang="en-US" sz="1600" dirty="0"/>
          </a:p>
        </p:txBody>
      </p:sp>
      <p:graphicFrame>
        <p:nvGraphicFramePr>
          <p:cNvPr id="4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84241" y="4997196"/>
          <a:ext cx="8549640" cy="914400"/>
        </p:xfrm>
        <a:graphic>
          <a:graphicData uri="http://schemas.openxmlformats.org/drawingml/2006/table">
            <a:tbl>
              <a:tblPr/>
              <a:tblGrid>
                <a:gridCol w="2163162"/>
                <a:gridCol w="1030077"/>
                <a:gridCol w="1287596"/>
                <a:gridCol w="4068805"/>
              </a:tblGrid>
              <a:tr h="45445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필드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타입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필수 여부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설명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</a:tr>
              <a:tr h="45445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validated_sql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string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필수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검증을 통과하고 LIMIT을 맞춘 SQL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445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row_limit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integer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필수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결과 행 상한 200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</a:tr>
              <a:tr h="45445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retry_reason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string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선택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검증 실패 사유 코드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445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previous_sql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string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선택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검증에 실패한 SQL. LLM 재생성 참고용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93247" y="7787945"/>
            <a:ext cx="32918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09321" y="99670"/>
            <a:ext cx="13738860" cy="8284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② S-R4 SQL 검증 (수행 작업과 예외 처리)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09321" y="1151230"/>
            <a:ext cx="1362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문자열 비교가 아니라 문법 트리로 검사하고, 행 상한을 강제로 붙임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09321" y="1737360"/>
            <a:ext cx="6697980" cy="457200"/>
          </a:xfrm>
          <a:prstGeom prst="roundRect">
            <a:avLst>
              <a:gd name="adj" fmla="val 12000"/>
            </a:avLst>
          </a:prstGeom>
          <a:solidFill>
            <a:srgbClr val="1E2A5C"/>
          </a:solidFill>
          <a:ln/>
        </p:spPr>
      </p:sp>
      <p:sp>
        <p:nvSpPr>
          <p:cNvPr id="5" name="Text 3"/>
          <p:cNvSpPr/>
          <p:nvPr/>
        </p:nvSpPr>
        <p:spPr>
          <a:xfrm>
            <a:off x="509321" y="1737360"/>
            <a:ext cx="66979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수행 작업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7435901" y="1737360"/>
            <a:ext cx="6697980" cy="457200"/>
          </a:xfrm>
          <a:prstGeom prst="roundRect">
            <a:avLst>
              <a:gd name="adj" fmla="val 12000"/>
            </a:avLst>
          </a:prstGeom>
          <a:solidFill>
            <a:srgbClr val="2E74C6"/>
          </a:solidFill>
          <a:ln/>
        </p:spPr>
      </p:sp>
      <p:sp>
        <p:nvSpPr>
          <p:cNvPr id="7" name="Text 5"/>
          <p:cNvSpPr/>
          <p:nvPr/>
        </p:nvSpPr>
        <p:spPr>
          <a:xfrm>
            <a:off x="7435901" y="1737360"/>
            <a:ext cx="66979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예외 처리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509321" y="2304288"/>
            <a:ext cx="6697980" cy="4965192"/>
          </a:xfrm>
          <a:prstGeom prst="roundRect">
            <a:avLst>
              <a:gd name="adj" fmla="val 1842"/>
            </a:avLst>
          </a:prstGeom>
          <a:solidFill>
            <a:srgbClr val="EEF3FA"/>
          </a:solidFill>
          <a:ln w="12700">
            <a:solidFill>
              <a:srgbClr val="D9E0E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6481" y="2524071"/>
            <a:ext cx="310896" cy="310896"/>
          </a:xfrm>
          <a:prstGeom prst="roundRect">
            <a:avLst>
              <a:gd name="adj" fmla="val 14706"/>
            </a:avLst>
          </a:prstGeom>
          <a:solidFill>
            <a:srgbClr val="2E74C6"/>
          </a:solidFill>
          <a:ln/>
        </p:spPr>
      </p:sp>
      <p:sp>
        <p:nvSpPr>
          <p:cNvPr id="10" name="Text 8"/>
          <p:cNvSpPr/>
          <p:nvPr/>
        </p:nvSpPr>
        <p:spPr>
          <a:xfrm>
            <a:off x="646481" y="2524071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76249" y="2496639"/>
            <a:ext cx="5966460" cy="3703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B45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남은 시간 예산을 측정함(⑥)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646481" y="3041360"/>
            <a:ext cx="310896" cy="310896"/>
          </a:xfrm>
          <a:prstGeom prst="roundRect">
            <a:avLst>
              <a:gd name="adj" fmla="val 14706"/>
            </a:avLst>
          </a:prstGeom>
          <a:solidFill>
            <a:srgbClr val="2E74C6"/>
          </a:solidFill>
          <a:ln/>
        </p:spPr>
      </p:sp>
      <p:sp>
        <p:nvSpPr>
          <p:cNvPr id="13" name="Text 11"/>
          <p:cNvSpPr/>
          <p:nvPr/>
        </p:nvSpPr>
        <p:spPr>
          <a:xfrm>
            <a:off x="646481" y="30413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076249" y="3013928"/>
            <a:ext cx="596646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B45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PostgreSQL 문법 파서로 SQL을 문법 트리로 바꿈(라이브러리는 개발 시 선택, 예: sqlglot 또는 pglast)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646481" y="3837541"/>
            <a:ext cx="310896" cy="310896"/>
          </a:xfrm>
          <a:prstGeom prst="roundRect">
            <a:avLst>
              <a:gd name="adj" fmla="val 14706"/>
            </a:avLst>
          </a:prstGeom>
          <a:solidFill>
            <a:srgbClr val="2E74C6"/>
          </a:solidFill>
          <a:ln/>
        </p:spPr>
      </p:sp>
      <p:sp>
        <p:nvSpPr>
          <p:cNvPr id="16" name="Text 14"/>
          <p:cNvSpPr/>
          <p:nvPr/>
        </p:nvSpPr>
        <p:spPr>
          <a:xfrm>
            <a:off x="646481" y="3837541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076249" y="3810109"/>
            <a:ext cx="5966460" cy="3703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B45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문장이 하나이고 SELECT(WITH 포함)인지 확인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646481" y="4354830"/>
            <a:ext cx="310896" cy="310896"/>
          </a:xfrm>
          <a:prstGeom prst="roundRect">
            <a:avLst>
              <a:gd name="adj" fmla="val 14706"/>
            </a:avLst>
          </a:prstGeom>
          <a:solidFill>
            <a:srgbClr val="2E74C6"/>
          </a:solidFill>
          <a:ln/>
        </p:spPr>
      </p:sp>
      <p:sp>
        <p:nvSpPr>
          <p:cNvPr id="19" name="Text 17"/>
          <p:cNvSpPr/>
          <p:nvPr/>
        </p:nvSpPr>
        <p:spPr>
          <a:xfrm>
            <a:off x="646481" y="435483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076249" y="4327398"/>
            <a:ext cx="5966460" cy="3703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B45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참조한 모든 표가 허용 뷰 7개(app. 스키마)인지 확인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646481" y="4872119"/>
            <a:ext cx="310896" cy="310896"/>
          </a:xfrm>
          <a:prstGeom prst="roundRect">
            <a:avLst>
              <a:gd name="adj" fmla="val 14706"/>
            </a:avLst>
          </a:prstGeom>
          <a:solidFill>
            <a:srgbClr val="2E74C6"/>
          </a:solidFill>
          <a:ln/>
        </p:spPr>
      </p:sp>
      <p:sp>
        <p:nvSpPr>
          <p:cNvPr id="22" name="Text 20"/>
          <p:cNvSpPr/>
          <p:nvPr/>
        </p:nvSpPr>
        <p:spPr>
          <a:xfrm>
            <a:off x="646481" y="4872119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076249" y="4844687"/>
            <a:ext cx="596646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B45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컬럼이 그 뷰의 컬럼 목록 안인지, 함수가 허용 함수 목록 안인지 확인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646481" y="5668300"/>
            <a:ext cx="310896" cy="310896"/>
          </a:xfrm>
          <a:prstGeom prst="roundRect">
            <a:avLst>
              <a:gd name="adj" fmla="val 14706"/>
            </a:avLst>
          </a:prstGeom>
          <a:solidFill>
            <a:srgbClr val="2E74C6"/>
          </a:solidFill>
          <a:ln/>
        </p:spPr>
      </p:sp>
      <p:sp>
        <p:nvSpPr>
          <p:cNvPr id="25" name="Text 23"/>
          <p:cNvSpPr/>
          <p:nvPr/>
        </p:nvSpPr>
        <p:spPr>
          <a:xfrm>
            <a:off x="646481" y="56683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1076249" y="5640868"/>
            <a:ext cx="596646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B45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금지 구문(쓰기, 여러 문장, 주석, FOR UPDATE, SELECT INTO, 금지 함수) 검사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646481" y="6464481"/>
            <a:ext cx="310896" cy="310896"/>
          </a:xfrm>
          <a:prstGeom prst="roundRect">
            <a:avLst>
              <a:gd name="adj" fmla="val 14706"/>
            </a:avLst>
          </a:prstGeom>
          <a:solidFill>
            <a:srgbClr val="2E74C6"/>
          </a:solidFill>
          <a:ln/>
        </p:spPr>
      </p:sp>
      <p:sp>
        <p:nvSpPr>
          <p:cNvPr id="28" name="Text 26"/>
          <p:cNvSpPr/>
          <p:nvPr/>
        </p:nvSpPr>
        <p:spPr>
          <a:xfrm>
            <a:off x="646481" y="6464481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1076249" y="6437049"/>
            <a:ext cx="596646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B45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LIMIT이 없으면 LIMIT 200을 붙이고, 200보다 크면 200으로 낮춤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7435901" y="2304288"/>
            <a:ext cx="6697980" cy="4965192"/>
          </a:xfrm>
          <a:prstGeom prst="roundRect">
            <a:avLst>
              <a:gd name="adj" fmla="val 1842"/>
            </a:avLst>
          </a:prstGeom>
          <a:solidFill>
            <a:srgbClr val="F5F8FC"/>
          </a:solidFill>
          <a:ln w="12700">
            <a:solidFill>
              <a:srgbClr val="D9E0E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600493" y="2601468"/>
            <a:ext cx="6259068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3B45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검사 실패 + sql_source NL2SQL + attempt 1 → 사유와 직전 SQL을 담아 S-R2로 되돌아감(L-1)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7600493" y="3607308"/>
            <a:ext cx="6259068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3B45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검사 실패 + attempt 2 → SQL_VALIDATION_FAILED(422)로 오류 종료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7600493" y="4613148"/>
            <a:ext cx="6259068" cy="9281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3B45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검사 실패 + sql_source FIXED → 정형쿼리 등록 오류이므로 SQL_VALIDATION_FAILED(422)로 오류 종료하고 운영 알림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7600493" y="5897880"/>
            <a:ext cx="6259068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3B45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오류 메시지에는 SQL, 뷰 이름, 컬럼 이름을 넣지 않음(사유 코드는 로그에만)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93247" y="7787945"/>
            <a:ext cx="32918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09321" y="99670"/>
            <a:ext cx="13738860" cy="8284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② S-R5 SQL 실행 (개요와 데이터)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09321" y="1151230"/>
            <a:ext cx="1362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읽기 전용 트랜잭션 안에서 회원 세션 변수를 걸고 실행해, 그 회원의 행만 읽음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09321" y="1737360"/>
            <a:ext cx="1828800" cy="365760"/>
          </a:xfrm>
          <a:prstGeom prst="roundRect">
            <a:avLst>
              <a:gd name="adj" fmla="val 12500"/>
            </a:avLst>
          </a:prstGeom>
          <a:solidFill>
            <a:srgbClr val="404155"/>
          </a:solidFill>
          <a:ln/>
        </p:spPr>
      </p:sp>
      <p:sp>
        <p:nvSpPr>
          <p:cNvPr id="5" name="Text 3"/>
          <p:cNvSpPr/>
          <p:nvPr/>
        </p:nvSpPr>
        <p:spPr>
          <a:xfrm>
            <a:off x="509321" y="17373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단계 개요</a:t>
            </a:r>
            <a:endParaRPr lang="en-US" sz="16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9321" y="2176272"/>
          <a:ext cx="48463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3474720"/>
              </a:tblGrid>
              <a:tr h="55052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단계ID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S-R5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052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단계명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SQL 실행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</a:tr>
              <a:tr h="55052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이전 단계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S-R4 SQL 검증(통과)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4633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비즈니스 목표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검증된 SQL을 회원 범위 안에서 시간 예산 안에 실행해 답의 근거 데이터를 얻음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</a:tr>
              <a:tr h="55052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담당자 유형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규칙기반 코드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052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외부시스템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없음(시스템 내부 DB)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</a:tr>
              <a:tr h="129423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비고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DB 조회 시간은 최악값 합계에 넣지 않고 여유 4초 안에서 실측으로 확인. FQ-08은 실행 계획 비용이 커 실측 필수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584241" y="1737360"/>
            <a:ext cx="3291840" cy="365760"/>
          </a:xfrm>
          <a:prstGeom prst="roundRect">
            <a:avLst>
              <a:gd name="adj" fmla="val 12500"/>
            </a:avLst>
          </a:prstGeom>
          <a:solidFill>
            <a:srgbClr val="404155"/>
          </a:solidFill>
          <a:ln/>
        </p:spPr>
      </p:sp>
      <p:sp>
        <p:nvSpPr>
          <p:cNvPr id="8" name="Text 5"/>
          <p:cNvSpPr/>
          <p:nvPr/>
        </p:nvSpPr>
        <p:spPr>
          <a:xfrm>
            <a:off x="5584241" y="17373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입력 데이터</a:t>
            </a:r>
            <a:endParaRPr lang="en-US" sz="1600" dirty="0"/>
          </a:p>
        </p:txBody>
      </p:sp>
      <p:graphicFrame>
        <p:nvGraphicFramePr>
          <p:cNvPr id="3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84241" y="2176272"/>
          <a:ext cx="8549640" cy="914400"/>
        </p:xfrm>
        <a:graphic>
          <a:graphicData uri="http://schemas.openxmlformats.org/drawingml/2006/table">
            <a:tbl>
              <a:tblPr/>
              <a:tblGrid>
                <a:gridCol w="2163162"/>
                <a:gridCol w="1030077"/>
                <a:gridCol w="1287596"/>
                <a:gridCol w="4068805"/>
              </a:tblGrid>
              <a:tr h="35805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필드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타입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필수 여부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출처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</a:tr>
              <a:tr h="35805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validated_sql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string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필수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S-R4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05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member_id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string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필수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S-R1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</a:tr>
              <a:tr h="35805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base_date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date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필수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S-R1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05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coverage_start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date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필수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S-R1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</a:tr>
              <a:tr h="60595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started_at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datetime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필수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S-R1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5584241" y="4682236"/>
            <a:ext cx="3291840" cy="365760"/>
          </a:xfrm>
          <a:prstGeom prst="roundRect">
            <a:avLst>
              <a:gd name="adj" fmla="val 12500"/>
            </a:avLst>
          </a:prstGeom>
          <a:solidFill>
            <a:srgbClr val="404155"/>
          </a:solidFill>
          <a:ln/>
        </p:spPr>
      </p:sp>
      <p:sp>
        <p:nvSpPr>
          <p:cNvPr id="11" name="Text 7"/>
          <p:cNvSpPr/>
          <p:nvPr/>
        </p:nvSpPr>
        <p:spPr>
          <a:xfrm>
            <a:off x="5584241" y="4682236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출력 데이터</a:t>
            </a:r>
            <a:endParaRPr lang="en-US" sz="1600" dirty="0"/>
          </a:p>
        </p:txBody>
      </p:sp>
      <p:graphicFrame>
        <p:nvGraphicFramePr>
          <p:cNvPr id="49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84241" y="5121148"/>
          <a:ext cx="8549640" cy="914400"/>
        </p:xfrm>
        <a:graphic>
          <a:graphicData uri="http://schemas.openxmlformats.org/drawingml/2006/table">
            <a:tbl>
              <a:tblPr/>
              <a:tblGrid>
                <a:gridCol w="2163162"/>
                <a:gridCol w="1030077"/>
                <a:gridCol w="1287596"/>
                <a:gridCol w="4068805"/>
              </a:tblGrid>
              <a:tr h="35805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필드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타입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필수 여부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설명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</a:tr>
              <a:tr h="35805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columns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array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필수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컬럼 이름과 타입 목록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05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rows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array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필수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결과 행. 최대 200행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</a:tr>
              <a:tr h="35805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row_count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integer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필수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결과 행 수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05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truncated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boolean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필수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행 상한 200에 닿았는지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</a:tr>
              <a:tr h="35805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db_elapsed_ms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integer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필수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DB 실행 시간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93247" y="7787945"/>
            <a:ext cx="32918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09321" y="99670"/>
            <a:ext cx="13738860" cy="8284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② S-R5 SQL 실행 (수행 작업과 예외 처리)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09321" y="1151230"/>
            <a:ext cx="1362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세션 변수, 읽기 전용, 실행 제한 시간, 행 상한 네 가지를 매번 실행 직전에 지정함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09321" y="1737360"/>
            <a:ext cx="6697980" cy="457200"/>
          </a:xfrm>
          <a:prstGeom prst="roundRect">
            <a:avLst>
              <a:gd name="adj" fmla="val 12000"/>
            </a:avLst>
          </a:prstGeom>
          <a:solidFill>
            <a:srgbClr val="1E2A5C"/>
          </a:solidFill>
          <a:ln/>
        </p:spPr>
      </p:sp>
      <p:sp>
        <p:nvSpPr>
          <p:cNvPr id="5" name="Text 3"/>
          <p:cNvSpPr/>
          <p:nvPr/>
        </p:nvSpPr>
        <p:spPr>
          <a:xfrm>
            <a:off x="509321" y="1737360"/>
            <a:ext cx="66979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수행 작업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7435901" y="1737360"/>
            <a:ext cx="6697980" cy="457200"/>
          </a:xfrm>
          <a:prstGeom prst="roundRect">
            <a:avLst>
              <a:gd name="adj" fmla="val 12000"/>
            </a:avLst>
          </a:prstGeom>
          <a:solidFill>
            <a:srgbClr val="2E74C6"/>
          </a:solidFill>
          <a:ln/>
        </p:spPr>
      </p:sp>
      <p:sp>
        <p:nvSpPr>
          <p:cNvPr id="7" name="Text 5"/>
          <p:cNvSpPr/>
          <p:nvPr/>
        </p:nvSpPr>
        <p:spPr>
          <a:xfrm>
            <a:off x="7435901" y="1737360"/>
            <a:ext cx="66979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예외 처리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509321" y="2304288"/>
            <a:ext cx="6697980" cy="4965192"/>
          </a:xfrm>
          <a:prstGeom prst="roundRect">
            <a:avLst>
              <a:gd name="adj" fmla="val 1842"/>
            </a:avLst>
          </a:prstGeom>
          <a:solidFill>
            <a:srgbClr val="EEF3FA"/>
          </a:solidFill>
          <a:ln w="12700">
            <a:solidFill>
              <a:srgbClr val="D9E0E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6481" y="2504150"/>
            <a:ext cx="310896" cy="310896"/>
          </a:xfrm>
          <a:prstGeom prst="roundRect">
            <a:avLst>
              <a:gd name="adj" fmla="val 14706"/>
            </a:avLst>
          </a:prstGeom>
          <a:solidFill>
            <a:srgbClr val="2E74C6"/>
          </a:solidFill>
          <a:ln/>
        </p:spPr>
      </p:sp>
      <p:sp>
        <p:nvSpPr>
          <p:cNvPr id="10" name="Text 8"/>
          <p:cNvSpPr/>
          <p:nvPr/>
        </p:nvSpPr>
        <p:spPr>
          <a:xfrm>
            <a:off x="646481" y="250415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76249" y="2476718"/>
            <a:ext cx="596646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B45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남은 시간 예산을 측정함(⑥). 기준 미달이면 착지(안전 종료)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646481" y="3260489"/>
            <a:ext cx="310896" cy="310896"/>
          </a:xfrm>
          <a:prstGeom prst="roundRect">
            <a:avLst>
              <a:gd name="adj" fmla="val 14706"/>
            </a:avLst>
          </a:prstGeom>
          <a:solidFill>
            <a:srgbClr val="2E74C6"/>
          </a:solidFill>
          <a:ln/>
        </p:spPr>
      </p:sp>
      <p:sp>
        <p:nvSpPr>
          <p:cNvPr id="13" name="Text 11"/>
          <p:cNvSpPr/>
          <p:nvPr/>
        </p:nvSpPr>
        <p:spPr>
          <a:xfrm>
            <a:off x="646481" y="3260489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076249" y="3233057"/>
            <a:ext cx="5966460" cy="3703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B45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커넥션 풀에서 sql_retriever_user 접속을 받음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646481" y="3737937"/>
            <a:ext cx="310896" cy="310896"/>
          </a:xfrm>
          <a:prstGeom prst="roundRect">
            <a:avLst>
              <a:gd name="adj" fmla="val 14706"/>
            </a:avLst>
          </a:prstGeom>
          <a:solidFill>
            <a:srgbClr val="2E74C6"/>
          </a:solidFill>
          <a:ln/>
        </p:spPr>
      </p:sp>
      <p:sp>
        <p:nvSpPr>
          <p:cNvPr id="16" name="Text 14"/>
          <p:cNvSpPr/>
          <p:nvPr/>
        </p:nvSpPr>
        <p:spPr>
          <a:xfrm>
            <a:off x="646481" y="3737937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076249" y="3710505"/>
            <a:ext cx="5966460" cy="3703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B45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BEGIN READ ONLY로 읽기 전용 트랜잭션을 시작함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646481" y="4215384"/>
            <a:ext cx="310896" cy="310896"/>
          </a:xfrm>
          <a:prstGeom prst="roundRect">
            <a:avLst>
              <a:gd name="adj" fmla="val 14706"/>
            </a:avLst>
          </a:prstGeom>
          <a:solidFill>
            <a:srgbClr val="2E74C6"/>
          </a:solidFill>
          <a:ln/>
        </p:spPr>
      </p:sp>
      <p:sp>
        <p:nvSpPr>
          <p:cNvPr id="19" name="Text 17"/>
          <p:cNvSpPr/>
          <p:nvPr/>
        </p:nvSpPr>
        <p:spPr>
          <a:xfrm>
            <a:off x="646481" y="42153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076249" y="4187952"/>
            <a:ext cx="596646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B45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SET LOCAL statement_timeout을 그 시점 남은 시간 예산 이하(밀리초, 내림)로 지정함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646481" y="4971723"/>
            <a:ext cx="310896" cy="310896"/>
          </a:xfrm>
          <a:prstGeom prst="roundRect">
            <a:avLst>
              <a:gd name="adj" fmla="val 14706"/>
            </a:avLst>
          </a:prstGeom>
          <a:solidFill>
            <a:srgbClr val="2E74C6"/>
          </a:solidFill>
          <a:ln/>
        </p:spPr>
      </p:sp>
      <p:sp>
        <p:nvSpPr>
          <p:cNvPr id="22" name="Text 20"/>
          <p:cNvSpPr/>
          <p:nvPr/>
        </p:nvSpPr>
        <p:spPr>
          <a:xfrm>
            <a:off x="646481" y="4971723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076249" y="4944291"/>
            <a:ext cx="5966460" cy="9281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B45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set_config('app.member_id', member_id, true), app.base_date, app.coverage_start를 지정함(트랜잭션 안에서만 유효)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646481" y="6006955"/>
            <a:ext cx="310896" cy="310896"/>
          </a:xfrm>
          <a:prstGeom prst="roundRect">
            <a:avLst>
              <a:gd name="adj" fmla="val 14706"/>
            </a:avLst>
          </a:prstGeom>
          <a:solidFill>
            <a:srgbClr val="2E74C6"/>
          </a:solidFill>
          <a:ln/>
        </p:spPr>
      </p:sp>
      <p:sp>
        <p:nvSpPr>
          <p:cNvPr id="25" name="Text 23"/>
          <p:cNvSpPr/>
          <p:nvPr/>
        </p:nvSpPr>
        <p:spPr>
          <a:xfrm>
            <a:off x="646481" y="600695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1076249" y="5979523"/>
            <a:ext cx="5966460" cy="3703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B45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validated_sql을 실행하고 최대 200행을 받음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646481" y="6484402"/>
            <a:ext cx="310896" cy="310896"/>
          </a:xfrm>
          <a:prstGeom prst="roundRect">
            <a:avLst>
              <a:gd name="adj" fmla="val 14706"/>
            </a:avLst>
          </a:prstGeom>
          <a:solidFill>
            <a:srgbClr val="2E74C6"/>
          </a:solidFill>
          <a:ln/>
        </p:spPr>
      </p:sp>
      <p:sp>
        <p:nvSpPr>
          <p:cNvPr id="28" name="Text 26"/>
          <p:cNvSpPr/>
          <p:nvPr/>
        </p:nvSpPr>
        <p:spPr>
          <a:xfrm>
            <a:off x="646481" y="64844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1076249" y="6456970"/>
            <a:ext cx="596646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B45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ROLLBACK으로 끝내 세션 변수를 함께 지우고 커넥션을 돌려줌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7435901" y="2304288"/>
            <a:ext cx="6697980" cy="4965192"/>
          </a:xfrm>
          <a:prstGeom prst="roundRect">
            <a:avLst>
              <a:gd name="adj" fmla="val 1842"/>
            </a:avLst>
          </a:prstGeom>
          <a:solidFill>
            <a:srgbClr val="F5F8FC"/>
          </a:solidFill>
          <a:ln w="12700">
            <a:solidFill>
              <a:srgbClr val="D9E0E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600493" y="2601468"/>
            <a:ext cx="6259068" cy="3703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3B45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실행 제한 시간 초과 → DB_TIMEOUT(504)로 오류 종료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7600493" y="3328416"/>
            <a:ext cx="6259068" cy="3703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3B45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 밖의 DB 오류 → DB_ERROR(500)로 오류 종료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7600493" y="4055364"/>
            <a:ext cx="6259068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3B45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0행은 오류가 아님(그 회원에게 해당 데이터가 없음) → S-R6로 감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7600493" y="5061204"/>
            <a:ext cx="6259068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3B45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세션 변수를 빼먹으면 행 수준 보안 때문에 0행이 나옴 → 0행이 잦으면 세션 변수 지정 누락을 먼저 의심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93247" y="7787945"/>
            <a:ext cx="32918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09321" y="99670"/>
            <a:ext cx="13738860" cy="8284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② S-R6 응답 구성과 반환 (개요와 데이터)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09321" y="1151230"/>
            <a:ext cx="1362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결과 또는 "답할 수 없음"을 같은 응답 형식으로 돌려주고, SQL과 회원ID는 응답에 넣지 않음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09321" y="1737360"/>
            <a:ext cx="1828800" cy="365760"/>
          </a:xfrm>
          <a:prstGeom prst="roundRect">
            <a:avLst>
              <a:gd name="adj" fmla="val 12500"/>
            </a:avLst>
          </a:prstGeom>
          <a:solidFill>
            <a:srgbClr val="404155"/>
          </a:solidFill>
          <a:ln/>
        </p:spPr>
      </p:sp>
      <p:sp>
        <p:nvSpPr>
          <p:cNvPr id="5" name="Text 3"/>
          <p:cNvSpPr/>
          <p:nvPr/>
        </p:nvSpPr>
        <p:spPr>
          <a:xfrm>
            <a:off x="509321" y="17373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단계 개요</a:t>
            </a:r>
            <a:endParaRPr lang="en-US" sz="16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9321" y="2176272"/>
          <a:ext cx="6766560" cy="914400"/>
        </p:xfrm>
        <a:graphic>
          <a:graphicData uri="http://schemas.openxmlformats.org/drawingml/2006/table">
            <a:tbl>
              <a:tblPr/>
              <a:tblGrid>
                <a:gridCol w="1915064"/>
                <a:gridCol w="4851496"/>
              </a:tblGrid>
              <a:tr h="32448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단계ID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S-R6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448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단계명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응답 구성과 반환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</a:tr>
              <a:tr h="32448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이전 단계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S-R5 SQL 실행, S-R3 계획 적합성 판정(답할 수 없음)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140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비즈니스 목표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호출자가 바로 답변에 쓸 수 있는 근거 데이터와 안내 문장을 한 형식으로 넘김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</a:tr>
              <a:tr h="32448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담당자 유형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규칙기반 코드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448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외부시스템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없음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</a:tr>
              <a:tr h="54140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비고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종료 처리 시간 1초 안에서 수행. 응답 필드 영문명은 부록 「필드 영문명」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09321" y="4991227"/>
            <a:ext cx="3291840" cy="365760"/>
          </a:xfrm>
          <a:prstGeom prst="roundRect">
            <a:avLst>
              <a:gd name="adj" fmla="val 12500"/>
            </a:avLst>
          </a:prstGeom>
          <a:solidFill>
            <a:srgbClr val="404155"/>
          </a:solidFill>
          <a:ln/>
        </p:spPr>
      </p:sp>
      <p:sp>
        <p:nvSpPr>
          <p:cNvPr id="8" name="Text 5"/>
          <p:cNvSpPr/>
          <p:nvPr/>
        </p:nvSpPr>
        <p:spPr>
          <a:xfrm>
            <a:off x="509321" y="4991227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입력 데이터</a:t>
            </a:r>
            <a:endParaRPr lang="en-US" sz="1600" dirty="0"/>
          </a:p>
        </p:txBody>
      </p:sp>
      <p:graphicFrame>
        <p:nvGraphicFramePr>
          <p:cNvPr id="3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9321" y="5430139"/>
          <a:ext cx="6766560" cy="914400"/>
        </p:xfrm>
        <a:graphic>
          <a:graphicData uri="http://schemas.openxmlformats.org/drawingml/2006/table">
            <a:tbl>
              <a:tblPr/>
              <a:tblGrid>
                <a:gridCol w="1149038"/>
                <a:gridCol w="5617522"/>
              </a:tblGrid>
              <a:tr h="32448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출처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필드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</a:tr>
              <a:tr h="32448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S-R1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request_id, started_at, base_date, coverage_start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448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S-R2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plan_source, attempt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</a:tr>
              <a:tr h="32448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S-R3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verdict, sql_source, query_id, unanswerable_reason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140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S-R5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columns, rows, row_count, truncated, db_elapsed_ms(답할 수 없음이면 없음)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7504481" y="1737360"/>
            <a:ext cx="3291840" cy="365760"/>
          </a:xfrm>
          <a:prstGeom prst="roundRect">
            <a:avLst>
              <a:gd name="adj" fmla="val 12500"/>
            </a:avLst>
          </a:prstGeom>
          <a:solidFill>
            <a:srgbClr val="404155"/>
          </a:solidFill>
          <a:ln/>
        </p:spPr>
      </p:sp>
      <p:sp>
        <p:nvSpPr>
          <p:cNvPr id="11" name="Text 7"/>
          <p:cNvSpPr/>
          <p:nvPr/>
        </p:nvSpPr>
        <p:spPr>
          <a:xfrm>
            <a:off x="7504481" y="17373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출력 데이터(호출자 응답)</a:t>
            </a:r>
            <a:endParaRPr lang="en-US" sz="1600" dirty="0"/>
          </a:p>
        </p:txBody>
      </p:sp>
      <p:graphicFrame>
        <p:nvGraphicFramePr>
          <p:cNvPr id="55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504481" y="2176272"/>
          <a:ext cx="6629400" cy="914400"/>
        </p:xfrm>
        <a:graphic>
          <a:graphicData uri="http://schemas.openxmlformats.org/drawingml/2006/table">
            <a:tbl>
              <a:tblPr/>
              <a:tblGrid>
                <a:gridCol w="1677318"/>
                <a:gridCol w="798723"/>
                <a:gridCol w="998404"/>
                <a:gridCol w="3154955"/>
              </a:tblGrid>
              <a:tr h="31731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필드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타입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필수 여부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설명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</a:tr>
              <a:tr h="31731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request_id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string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필수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요청 추적 ID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31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status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string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필수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OK 또는 UNANSWERABLE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</a:tr>
              <a:tr h="31731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route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string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선택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FIXED 또는 NL2SQL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31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query_id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string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선택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정형쿼리ID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</a:tr>
              <a:tr h="31731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plan_source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string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필수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LLM 또는 KEYWORD_RULE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31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columns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array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필수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컬럼 이름과 타입 목록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</a:tr>
              <a:tr h="31731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rows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array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필수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결과 행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423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row_count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integer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필수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결과 행 수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</a:tr>
              <a:tr h="53423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truncated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boolean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필수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행 상한 도달 여부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31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base_date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date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필수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조회 기준일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</a:tr>
              <a:tr h="31731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coverage_start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date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필수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거래 제공 시작일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31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message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string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필수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상담사에게 보여 줄 한 줄 안내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</a:tr>
              <a:tr h="53423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elapsed_ms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integer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필수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전체 처리 시간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93247" y="7787945"/>
            <a:ext cx="32918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09321" y="99670"/>
            <a:ext cx="13738860" cy="8284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② S-R6 응답 구성과 반환 (수행 작업과 예외 처리)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09321" y="1151230"/>
            <a:ext cx="1362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정해진 문장 틀로 안내를 만들고, 감사 로그를 남긴 뒤 반환함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09321" y="1737360"/>
            <a:ext cx="6697980" cy="457200"/>
          </a:xfrm>
          <a:prstGeom prst="roundRect">
            <a:avLst>
              <a:gd name="adj" fmla="val 12000"/>
            </a:avLst>
          </a:prstGeom>
          <a:solidFill>
            <a:srgbClr val="1E2A5C"/>
          </a:solidFill>
          <a:ln/>
        </p:spPr>
      </p:sp>
      <p:sp>
        <p:nvSpPr>
          <p:cNvPr id="5" name="Text 3"/>
          <p:cNvSpPr/>
          <p:nvPr/>
        </p:nvSpPr>
        <p:spPr>
          <a:xfrm>
            <a:off x="509321" y="1737360"/>
            <a:ext cx="66979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수행 작업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7435901" y="1737360"/>
            <a:ext cx="6697980" cy="457200"/>
          </a:xfrm>
          <a:prstGeom prst="roundRect">
            <a:avLst>
              <a:gd name="adj" fmla="val 12000"/>
            </a:avLst>
          </a:prstGeom>
          <a:solidFill>
            <a:srgbClr val="2E74C6"/>
          </a:solidFill>
          <a:ln/>
        </p:spPr>
      </p:sp>
      <p:sp>
        <p:nvSpPr>
          <p:cNvPr id="7" name="Text 5"/>
          <p:cNvSpPr/>
          <p:nvPr/>
        </p:nvSpPr>
        <p:spPr>
          <a:xfrm>
            <a:off x="7435901" y="1737360"/>
            <a:ext cx="66979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예외 처리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509321" y="2304288"/>
            <a:ext cx="6697980" cy="4965192"/>
          </a:xfrm>
          <a:prstGeom prst="roundRect">
            <a:avLst>
              <a:gd name="adj" fmla="val 1842"/>
            </a:avLst>
          </a:prstGeom>
          <a:solidFill>
            <a:srgbClr val="EEF3FA"/>
          </a:solidFill>
          <a:ln w="12700">
            <a:solidFill>
              <a:srgbClr val="D9E0E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6481" y="2497455"/>
            <a:ext cx="310896" cy="310896"/>
          </a:xfrm>
          <a:prstGeom prst="roundRect">
            <a:avLst>
              <a:gd name="adj" fmla="val 14706"/>
            </a:avLst>
          </a:prstGeom>
          <a:solidFill>
            <a:srgbClr val="2E74C6"/>
          </a:solidFill>
          <a:ln/>
        </p:spPr>
      </p:sp>
      <p:sp>
        <p:nvSpPr>
          <p:cNvPr id="10" name="Text 8"/>
          <p:cNvSpPr/>
          <p:nvPr/>
        </p:nvSpPr>
        <p:spPr>
          <a:xfrm>
            <a:off x="646481" y="249745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76249" y="2470023"/>
            <a:ext cx="596646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B45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남은 시간을 측정함. 종료 처리 시간 1초를 미리 떼어 두었으므로 기준 미달이어도 실행함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646481" y="3240405"/>
            <a:ext cx="310896" cy="310896"/>
          </a:xfrm>
          <a:prstGeom prst="roundRect">
            <a:avLst>
              <a:gd name="adj" fmla="val 14706"/>
            </a:avLst>
          </a:prstGeom>
          <a:solidFill>
            <a:srgbClr val="2E74C6"/>
          </a:solidFill>
          <a:ln/>
        </p:spPr>
      </p:sp>
      <p:sp>
        <p:nvSpPr>
          <p:cNvPr id="13" name="Text 11"/>
          <p:cNvSpPr/>
          <p:nvPr/>
        </p:nvSpPr>
        <p:spPr>
          <a:xfrm>
            <a:off x="646481" y="324040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076249" y="3212973"/>
            <a:ext cx="596646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B45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verdict가 UNANSWERABLE이면 status UNANSWERABLE, 아니면 OK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646481" y="3983355"/>
            <a:ext cx="310896" cy="310896"/>
          </a:xfrm>
          <a:prstGeom prst="roundRect">
            <a:avLst>
              <a:gd name="adj" fmla="val 14706"/>
            </a:avLst>
          </a:prstGeom>
          <a:solidFill>
            <a:srgbClr val="2E74C6"/>
          </a:solidFill>
          <a:ln/>
        </p:spPr>
      </p:sp>
      <p:sp>
        <p:nvSpPr>
          <p:cNvPr id="16" name="Text 14"/>
          <p:cNvSpPr/>
          <p:nvPr/>
        </p:nvSpPr>
        <p:spPr>
          <a:xfrm>
            <a:off x="646481" y="398335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076249" y="3955923"/>
            <a:ext cx="5966460" cy="9281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B45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message를 문장 틀로 만듦: "기준일 {base_date} 기준 {row_count}건" / 200건 도달 시 "앞 200건만 보여 줌" / 0건 시 "해당 데이터 없음" / 답할 수 없음 시 사유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646481" y="5005197"/>
            <a:ext cx="310896" cy="310896"/>
          </a:xfrm>
          <a:prstGeom prst="roundRect">
            <a:avLst>
              <a:gd name="adj" fmla="val 14706"/>
            </a:avLst>
          </a:prstGeom>
          <a:solidFill>
            <a:srgbClr val="2E74C6"/>
          </a:solidFill>
          <a:ln/>
        </p:spPr>
      </p:sp>
      <p:sp>
        <p:nvSpPr>
          <p:cNvPr id="19" name="Text 17"/>
          <p:cNvSpPr/>
          <p:nvPr/>
        </p:nvSpPr>
        <p:spPr>
          <a:xfrm>
            <a:off x="646481" y="5005197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076249" y="4977765"/>
            <a:ext cx="596646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B45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응답 JSON을 구성함(SQL 문장, 회원ID, 내부 뷰 이름은 넣지 않음)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646481" y="5748147"/>
            <a:ext cx="310896" cy="310896"/>
          </a:xfrm>
          <a:prstGeom prst="roundRect">
            <a:avLst>
              <a:gd name="adj" fmla="val 14706"/>
            </a:avLst>
          </a:prstGeom>
          <a:solidFill>
            <a:srgbClr val="2E74C6"/>
          </a:solidFill>
          <a:ln/>
        </p:spPr>
      </p:sp>
      <p:sp>
        <p:nvSpPr>
          <p:cNvPr id="22" name="Text 20"/>
          <p:cNvSpPr/>
          <p:nvPr/>
        </p:nvSpPr>
        <p:spPr>
          <a:xfrm>
            <a:off x="646481" y="5748147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076249" y="5720715"/>
            <a:ext cx="5966460" cy="9281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B45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감사 로그 기록: request_id, route, query_id, plan_source, attempt, elapsed_ms, row_count(질문은 가린 문장만, 회원ID는 해시값)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646481" y="6769989"/>
            <a:ext cx="310896" cy="310896"/>
          </a:xfrm>
          <a:prstGeom prst="roundRect">
            <a:avLst>
              <a:gd name="adj" fmla="val 14706"/>
            </a:avLst>
          </a:prstGeom>
          <a:solidFill>
            <a:srgbClr val="2E74C6"/>
          </a:solidFill>
          <a:ln/>
        </p:spPr>
      </p:sp>
      <p:sp>
        <p:nvSpPr>
          <p:cNvPr id="25" name="Text 23"/>
          <p:cNvSpPr/>
          <p:nvPr/>
        </p:nvSpPr>
        <p:spPr>
          <a:xfrm>
            <a:off x="646481" y="6769989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1076249" y="6742557"/>
            <a:ext cx="5966460" cy="3703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B45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HTTP 200으로 반환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7435901" y="2304288"/>
            <a:ext cx="6697980" cy="4965192"/>
          </a:xfrm>
          <a:prstGeom prst="roundRect">
            <a:avLst>
              <a:gd name="adj" fmla="val 1842"/>
            </a:avLst>
          </a:prstGeom>
          <a:solidFill>
            <a:srgbClr val="F5F8FC"/>
          </a:solidFill>
          <a:ln w="12700">
            <a:solidFill>
              <a:srgbClr val="D9E0E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600493" y="2601468"/>
            <a:ext cx="6259068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3B45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응답 구성 또는 직렬화 실패 → INTERNAL_ERROR(500)로 오류 종료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7600493" y="3607308"/>
            <a:ext cx="6259068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3B45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감사 로그 기록 실패 → 응답은 그대로 반환하고 로그 실패만 따로 알림(응답을 막지 않음)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93247" y="7787945"/>
            <a:ext cx="32918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09321" y="99670"/>
            <a:ext cx="13738860" cy="8284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③ 외부시스템 연동 명세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09321" y="1151230"/>
            <a:ext cx="1362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외부 연동은 Groq LLM 1개뿐이며, 최악값은 5초 × (1 + 0) = 5초임</a:t>
            </a:r>
            <a:endParaRPr lang="en-US" sz="18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9321" y="1737360"/>
          <a:ext cx="13624560" cy="914400"/>
        </p:xfrm>
        <a:graphic>
          <a:graphicData uri="http://schemas.openxmlformats.org/drawingml/2006/table">
            <a:tbl>
              <a:tblPr/>
              <a:tblGrid>
                <a:gridCol w="936038"/>
                <a:gridCol w="2704111"/>
                <a:gridCol w="1040043"/>
                <a:gridCol w="1040043"/>
                <a:gridCol w="1560064"/>
                <a:gridCol w="936038"/>
                <a:gridCol w="1976081"/>
                <a:gridCol w="3432141"/>
              </a:tblGrid>
              <a:tr h="5872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단계ID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외부시스템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연동 유형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커넥터ID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타임아웃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재시도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최악값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초과 시 처리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</a:tr>
              <a:tr h="5872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S-R2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Groq LLM API(openai/gpt-oss-120b)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LLM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C-01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5초(설계 가정)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 × (1 + 0) = 5초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대체 경로로 계속(키워드 규칙 정형쿼리)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09321" y="3140456"/>
            <a:ext cx="13624560" cy="2820924"/>
          </a:xfrm>
          <a:prstGeom prst="roundRect">
            <a:avLst>
              <a:gd name="adj" fmla="val 3241"/>
            </a:avLst>
          </a:prstGeom>
          <a:solidFill>
            <a:srgbClr val="EEF3FA"/>
          </a:solidFill>
          <a:ln w="12700">
            <a:solidFill>
              <a:srgbClr val="D9E0EC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6481" y="3437636"/>
            <a:ext cx="1335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초과 시 처리 검토 순서와 판단 이유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646481" y="3876548"/>
            <a:ext cx="310896" cy="310896"/>
          </a:xfrm>
          <a:prstGeom prst="roundRect">
            <a:avLst>
              <a:gd name="adj" fmla="val 14706"/>
            </a:avLst>
          </a:prstGeom>
          <a:solidFill>
            <a:srgbClr val="2E74C6"/>
          </a:solidFill>
          <a:ln/>
        </p:spPr>
      </p:sp>
      <p:sp>
        <p:nvSpPr>
          <p:cNvPr id="8" name="Text 5"/>
          <p:cNvSpPr/>
          <p:nvPr/>
        </p:nvSpPr>
        <p:spPr>
          <a:xfrm>
            <a:off x="646481" y="38765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1076249" y="3849116"/>
            <a:ext cx="12893040" cy="3703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B45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부분결과로 계속: 불가. 계획(SQL) 없이는 실행할 것이 없어 품질이 낮은 결과도 낼 수 없음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6481" y="4603496"/>
            <a:ext cx="310896" cy="310896"/>
          </a:xfrm>
          <a:prstGeom prst="roundRect">
            <a:avLst>
              <a:gd name="adj" fmla="val 14706"/>
            </a:avLst>
          </a:prstGeom>
          <a:solidFill>
            <a:srgbClr val="2E74C6"/>
          </a:solidFill>
          <a:ln/>
        </p:spPr>
      </p:sp>
      <p:sp>
        <p:nvSpPr>
          <p:cNvPr id="11" name="Text 8"/>
          <p:cNvSpPr/>
          <p:nvPr/>
        </p:nvSpPr>
        <p:spPr>
          <a:xfrm>
            <a:off x="646481" y="46034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1076249" y="4576064"/>
            <a:ext cx="12893040" cy="3703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B45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대체 경로로 계속: 채택. 정형쿼리 8개는 LLM 없이 키워드 규칙으로도 고를 수 있음(부록 「정형쿼리 목록」)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646481" y="5330444"/>
            <a:ext cx="310896" cy="310896"/>
          </a:xfrm>
          <a:prstGeom prst="roundRect">
            <a:avLst>
              <a:gd name="adj" fmla="val 14706"/>
            </a:avLst>
          </a:prstGeom>
          <a:solidFill>
            <a:srgbClr val="2E74C6"/>
          </a:solidFill>
          <a:ln/>
        </p:spPr>
      </p:sp>
      <p:sp>
        <p:nvSpPr>
          <p:cNvPr id="14" name="Text 11"/>
          <p:cNvSpPr/>
          <p:nvPr/>
        </p:nvSpPr>
        <p:spPr>
          <a:xfrm>
            <a:off x="646481" y="53304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1076249" y="5303012"/>
            <a:ext cx="12893040" cy="3703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B45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안전 종료: 키워드 규칙에도 맞는 정형쿼리가 없을 때만 LLM_UNAVAILABLE(503)로 끝냄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509321" y="6144260"/>
            <a:ext cx="13624560" cy="2717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3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재시도 0회 이유: 재시도 역할은 반복 구간 L-1의 1회가 맡음. 연동 재시도까지 두면 최악값이 15초 예산을 넘음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509321" y="6461760"/>
            <a:ext cx="13624560" cy="2717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3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DB는 시스템 내부 구성요소라 이 표에 넣지 않음(사용자 결정)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93247" y="7787945"/>
            <a:ext cx="32918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09321" y="99670"/>
            <a:ext cx="13738860" cy="8284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④ 반복 구간 명세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09321" y="1151230"/>
            <a:ext cx="1362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계획 부적합 또는 SQL 검증 실패면 사유를 붙여 S-R2부터 1번 더 돌고, 최악값은 10초임</a:t>
            </a:r>
            <a:endParaRPr lang="en-US" sz="18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9321" y="1737360"/>
          <a:ext cx="1362456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3291840"/>
                <a:gridCol w="1371600"/>
                <a:gridCol w="822960"/>
                <a:gridCol w="2286000"/>
                <a:gridCol w="4663440"/>
              </a:tblGrid>
              <a:tr h="5872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반복구간ID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비즈니스 목표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단계ID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재시도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최악값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착지 단계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</a:tr>
              <a:tr h="5872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L-1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계획이 적합하고 SQL이 검증을 통과할 때까지 계획을 1번 다시 만듦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S-R2 ~ S-R4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(5 + 0 + 0) × (1 + 1) = 10초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S-R3 부적합 → S-R6(답할 수 없음), S-R4 실패 → 오류 종료(SQL_VALIDATION_FAILED)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09321" y="3186176"/>
            <a:ext cx="6583680" cy="1513840"/>
          </a:xfrm>
          <a:prstGeom prst="roundRect">
            <a:avLst>
              <a:gd name="adj" fmla="val 4832"/>
            </a:avLst>
          </a:prstGeom>
          <a:solidFill>
            <a:srgbClr val="F5F8FC"/>
          </a:solidFill>
          <a:ln w="12700">
            <a:solidFill>
              <a:srgbClr val="D9E0EC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6481" y="3295904"/>
            <a:ext cx="6309360" cy="1294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반복구간 L-1 (재시도 1회)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S-R2: 외부 연동 최악값 5 × (1 + 0) = 5초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S-R3: 외부 연동 없음(규칙 처리 시간은 여유 몫) → 0초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S-R4: 외부 연동 없음(규칙 처리 시간은 여유 몫) → 0초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구간 최악값 = (5 + 0 + 0) × (1 + 1) = 10초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7321601" y="3186176"/>
            <a:ext cx="6812280" cy="2651760"/>
          </a:xfrm>
          <a:prstGeom prst="roundRect">
            <a:avLst>
              <a:gd name="adj" fmla="val 3448"/>
            </a:avLst>
          </a:prstGeom>
          <a:solidFill>
            <a:srgbClr val="EEF3FA"/>
          </a:solidFill>
          <a:ln w="12700">
            <a:solidFill>
              <a:srgbClr val="D9E0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58761" y="3483356"/>
            <a:ext cx="6537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착지 단계 판단 이유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7458761" y="3922268"/>
            <a:ext cx="310896" cy="310896"/>
          </a:xfrm>
          <a:prstGeom prst="roundRect">
            <a:avLst>
              <a:gd name="adj" fmla="val 14706"/>
            </a:avLst>
          </a:prstGeom>
          <a:solidFill>
            <a:srgbClr val="2E74C6"/>
          </a:solidFill>
          <a:ln/>
        </p:spPr>
      </p:sp>
      <p:sp>
        <p:nvSpPr>
          <p:cNvPr id="10" name="Text 7"/>
          <p:cNvSpPr/>
          <p:nvPr/>
        </p:nvSpPr>
        <p:spPr>
          <a:xfrm>
            <a:off x="7458761" y="39222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7888529" y="3894836"/>
            <a:ext cx="608076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B45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S-R3 부적합 착지: 부분결과로 계속. 오류가 아니라 "답할 수 없음"이라는 정상 응답으로 S-R6에서 끝냄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7458761" y="4928108"/>
            <a:ext cx="310896" cy="310896"/>
          </a:xfrm>
          <a:prstGeom prst="roundRect">
            <a:avLst>
              <a:gd name="adj" fmla="val 14706"/>
            </a:avLst>
          </a:prstGeom>
          <a:solidFill>
            <a:srgbClr val="2E74C6"/>
          </a:solidFill>
          <a:ln/>
        </p:spPr>
      </p:sp>
      <p:sp>
        <p:nvSpPr>
          <p:cNvPr id="13" name="Text 10"/>
          <p:cNvSpPr/>
          <p:nvPr/>
        </p:nvSpPr>
        <p:spPr>
          <a:xfrm>
            <a:off x="7458761" y="49281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7888529" y="4900676"/>
            <a:ext cx="608076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B45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S-R4 실패 착지: 안전 종료. 검증을 못 통과한 SQL은 실행하지 않는다는 원칙 때문에 부분결과와 대체 경로가 없음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93247" y="7787945"/>
            <a:ext cx="32918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09321" y="99670"/>
            <a:ext cx="13738860" cy="8284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⑤ 워크플로우 명세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09321" y="1151230"/>
            <a:ext cx="1362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최악값 합계 10초는 전체 시간 예산 15초 안에 들고, 남는 5초를 종료 처리와 DB 조회 몫으로 씀</a:t>
            </a:r>
            <a:endParaRPr lang="en-US" sz="18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9321" y="1737360"/>
          <a:ext cx="640080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4663440"/>
              </a:tblGrid>
              <a:tr h="49491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항목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값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</a:tr>
              <a:tr h="49491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워크플로우ID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W-1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491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이름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SQL 검색기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</a:tr>
              <a:tr h="76009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비즈니스 목표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상담사가 통화 중에 회원 데이터 근거를 바로 받아, 추측 없이 정확하게 답할 수 있게 함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491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전체 시간 예산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15초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</a:tr>
              <a:tr h="49491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종료 처리 시간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1초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6009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최악값 합계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S-R1 0초 + L-1 10초 + S-R5 0초 + S-R6 0초 = 10초 (≤ 15초)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</a:tr>
              <a:tr h="76009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재개 방안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해당없음(조회만 하고 바깥에 반영하는 작업이 없어 처음부터 다시 해도 문제없음)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7138721" y="1737360"/>
            <a:ext cx="6995160" cy="3063240"/>
          </a:xfrm>
          <a:prstGeom prst="roundRect">
            <a:avLst>
              <a:gd name="adj" fmla="val 2388"/>
            </a:avLst>
          </a:prstGeom>
          <a:solidFill>
            <a:srgbClr val="F5F8FC"/>
          </a:solidFill>
          <a:ln w="12700">
            <a:solidFill>
              <a:srgbClr val="D9E0EC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275881" y="1847088"/>
            <a:ext cx="6720840" cy="2843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[최악값 합계]</a:t>
            </a:r>
            <a:endParaRPr lang="en-US" sz="15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반복구간 밖 단계: S-R1 0초, S-R5 0초, S-R6 0초 (외부 연동 없음)</a:t>
            </a:r>
            <a:endParaRPr lang="en-US" sz="15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반복구간 최악값: L-1 10초</a:t>
            </a:r>
            <a:endParaRPr lang="en-US" sz="15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분기: S-R3 → S-R6(답할 수 없음) 경로는 S-R4, S-R5를 건너뛰어</a:t>
            </a:r>
            <a:endParaRPr lang="en-US" sz="15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    가장 큰 경로(S-R1 → L-1 → S-R5 → S-R6)를 씀</a:t>
            </a:r>
            <a:endParaRPr lang="en-US" sz="15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최악값 합계 = 0 + 10 + 0 + 0 = 10초 ≤ 15초 → 통과</a:t>
            </a:r>
            <a:endParaRPr lang="en-US" sz="1500" dirty="0"/>
          </a:p>
          <a:p>
            <a:pPr indent="0" marL="0">
              <a:lnSpc>
                <a:spcPct val="100000"/>
              </a:lnSpc>
              <a:buNone/>
            </a:pPr>
            <a:endParaRPr lang="en-US" sz="15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[여유 시간]</a:t>
            </a:r>
            <a:endParaRPr lang="en-US" sz="15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15 - 10 = 5초 = 종료 처리 1초 + DB 조회와 규칙 처리 4초</a:t>
            </a:r>
            <a:endParaRPr lang="en-US" sz="15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DB 조회: S-R1 회원 확인, S-R5 SQL 실행</a:t>
            </a:r>
            <a:endParaRPr lang="en-US" sz="15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규칙 처리: 정규식 가림, 계획 판정, SQL 파싱</a:t>
            </a:r>
            <a:endParaRPr lang="en-US" sz="15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→ 4초 안에 드는지 개발 후 실측으로 확인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509321" y="6675120"/>
            <a:ext cx="13624560" cy="2717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3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예산 조정 과정: 처음 안(LLM 타임아웃 5초, 재시도 1회)은 L-1 = (5 × 2) × 2 = 20초로 15초를 넘어, 연동 재시도를 0회로 줄이고 재시도 역할을 L-1에 맡김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93247" y="7787945"/>
            <a:ext cx="32918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09321" y="99670"/>
            <a:ext cx="13738860" cy="8284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커넥터 목록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09321" y="1151230"/>
            <a:ext cx="1362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커넥터는 Groq LLM 1개이며, 제공자와 모델은 실행 설정으로 고르는 구조로 둠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09321" y="1737360"/>
            <a:ext cx="2011680" cy="365760"/>
          </a:xfrm>
          <a:prstGeom prst="roundRect">
            <a:avLst>
              <a:gd name="adj" fmla="val 12500"/>
            </a:avLst>
          </a:prstGeom>
          <a:solidFill>
            <a:srgbClr val="404155"/>
          </a:solidFill>
          <a:ln/>
        </p:spPr>
      </p:sp>
      <p:sp>
        <p:nvSpPr>
          <p:cNvPr id="5" name="Text 3"/>
          <p:cNvSpPr/>
          <p:nvPr/>
        </p:nvSpPr>
        <p:spPr>
          <a:xfrm>
            <a:off x="509321" y="17373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커넥터 목록</a:t>
            </a:r>
            <a:endParaRPr lang="en-US" sz="16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9321" y="2194560"/>
          <a:ext cx="768096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2103120"/>
                <a:gridCol w="1188720"/>
                <a:gridCol w="3566160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ID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커넥터명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연동 방식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제공자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</a:tr>
              <a:tr h="6492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C-01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SQL 계획 생성 LLM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LLM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Groq(모델 openai/gpt-oss-120b, 개발사 OpenAI)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09321" y="3666744"/>
            <a:ext cx="7680960" cy="550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DB(PostgreSQL cardlab)는 시스템 내부 구성요소로 취급해 커넥터 목록에서 뺌(사용자 결정)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8418881" y="1737360"/>
            <a:ext cx="5715000" cy="4384548"/>
          </a:xfrm>
          <a:prstGeom prst="roundRect">
            <a:avLst>
              <a:gd name="adj" fmla="val 2086"/>
            </a:avLst>
          </a:prstGeom>
          <a:solidFill>
            <a:srgbClr val="EEF3FA"/>
          </a:solidFill>
          <a:ln w="12700">
            <a:solidFill>
              <a:srgbClr val="D9E0E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556041" y="2034540"/>
            <a:ext cx="5440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실행 설정으로 고르는 구조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8556041" y="2473452"/>
            <a:ext cx="310896" cy="310896"/>
          </a:xfrm>
          <a:prstGeom prst="roundRect">
            <a:avLst>
              <a:gd name="adj" fmla="val 14706"/>
            </a:avLst>
          </a:prstGeom>
          <a:solidFill>
            <a:srgbClr val="2E74C6"/>
          </a:solidFill>
          <a:ln/>
        </p:spPr>
      </p:sp>
      <p:sp>
        <p:nvSpPr>
          <p:cNvPr id="11" name="Text 8"/>
          <p:cNvSpPr/>
          <p:nvPr/>
        </p:nvSpPr>
        <p:spPr>
          <a:xfrm>
            <a:off x="8556041" y="24734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8985809" y="2446020"/>
            <a:ext cx="4983480" cy="3703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B45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SQL_RETRIEVER_LLM_PROVIDER = groq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8556041" y="3200400"/>
            <a:ext cx="310896" cy="310896"/>
          </a:xfrm>
          <a:prstGeom prst="roundRect">
            <a:avLst>
              <a:gd name="adj" fmla="val 14706"/>
            </a:avLst>
          </a:prstGeom>
          <a:solidFill>
            <a:srgbClr val="2E74C6"/>
          </a:solidFill>
          <a:ln/>
        </p:spPr>
      </p:sp>
      <p:sp>
        <p:nvSpPr>
          <p:cNvPr id="14" name="Text 11"/>
          <p:cNvSpPr/>
          <p:nvPr/>
        </p:nvSpPr>
        <p:spPr>
          <a:xfrm>
            <a:off x="8556041" y="32004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8985809" y="3172968"/>
            <a:ext cx="498348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B45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SQL_RETRIEVER_LLM_MODEL = openai/gpt-oss-120b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8556041" y="4206240"/>
            <a:ext cx="310896" cy="310896"/>
          </a:xfrm>
          <a:prstGeom prst="roundRect">
            <a:avLst>
              <a:gd name="adj" fmla="val 14706"/>
            </a:avLst>
          </a:prstGeom>
          <a:solidFill>
            <a:srgbClr val="2E74C6"/>
          </a:solidFill>
          <a:ln/>
        </p:spPr>
      </p:sp>
      <p:sp>
        <p:nvSpPr>
          <p:cNvPr id="17" name="Text 14"/>
          <p:cNvSpPr/>
          <p:nvPr/>
        </p:nvSpPr>
        <p:spPr>
          <a:xfrm>
            <a:off x="8556041" y="4206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8985809" y="4178808"/>
            <a:ext cx="498348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B45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API 키는 GROQ_API_KEY 환경변수로만 주입(코드, 이미지, 로그에 넣지 않음)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8556041" y="5212080"/>
            <a:ext cx="310896" cy="310896"/>
          </a:xfrm>
          <a:prstGeom prst="roundRect">
            <a:avLst>
              <a:gd name="adj" fmla="val 14706"/>
            </a:avLst>
          </a:prstGeom>
          <a:solidFill>
            <a:srgbClr val="2E74C6"/>
          </a:solidFill>
          <a:ln/>
        </p:spPr>
      </p:sp>
      <p:sp>
        <p:nvSpPr>
          <p:cNvPr id="20" name="Text 17"/>
          <p:cNvSpPr/>
          <p:nvPr/>
        </p:nvSpPr>
        <p:spPr>
          <a:xfrm>
            <a:off x="8556041" y="52120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8985809" y="5184648"/>
            <a:ext cx="498348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B45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제공자를 더하면 같은 응답 구조(부록 A의 JSON Schema)를 지키는 어댑터를 하나 더 만듦</a:t>
            </a:r>
            <a:endParaRPr lang="en-US" sz="1800" dirty="0"/>
          </a:p>
        </p:txBody>
      </p:sp>
      <p:sp>
        <p:nvSpPr>
          <p:cNvPr id="22" name="Shape 19"/>
          <p:cNvSpPr/>
          <p:nvPr/>
        </p:nvSpPr>
        <p:spPr>
          <a:xfrm>
            <a:off x="509321" y="7388352"/>
            <a:ext cx="13624560" cy="0"/>
          </a:xfrm>
          <a:prstGeom prst="line">
            <a:avLst/>
          </a:prstGeom>
          <a:noFill/>
          <a:ln w="12700">
            <a:solidFill>
              <a:srgbClr val="E9ECF3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09321" y="7443216"/>
            <a:ext cx="1362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7C85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출처: console.groq.com/docs/openai, /docs/model/openai/gpt-oss-120b (조사일 2026-10-15)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93247" y="7787945"/>
            <a:ext cx="32918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09321" y="99670"/>
            <a:ext cx="13738860" cy="8284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C-01 LLM 명세: 모델과 하이퍼파라미터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09321" y="1151230"/>
            <a:ext cx="1362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값은 모두 Groq 공식 문서의 범위 안에서 정했고, 근거가 없는 수치는 설계 가정으로 표시함</a:t>
            </a:r>
            <a:endParaRPr lang="en-US" sz="18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9321" y="1737360"/>
          <a:ext cx="91440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200400"/>
                <a:gridCol w="3931920"/>
              </a:tblGrid>
              <a:tr h="32874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항목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값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문서 범위 또는 근거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</a:tr>
              <a:tr h="32874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커넥터 ID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C-01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커넥터 목록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874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베이스 URL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https://api.groq.com/openai/v1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OpenAI 호환 문서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</a:tr>
              <a:tr h="32874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엔드포인트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POST /chat/completions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API Reference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115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인증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Authorization: Bearer $GROQ_API_KEY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API Reference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</a:tr>
              <a:tr h="32874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모델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openai/gpt-oss-120b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문맥 131,072, 최대 출력 65,536 토큰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874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temperature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0.2(설계 가정)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 ~ 2, 기본 1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</a:tr>
              <a:tr h="56115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top_p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1(기본값, 바꾸지 않음)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 ~ 1. temperature와 하나만 바꾸도록 권고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874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reasoning_effort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low(설계 가정)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low, medium(기본), high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</a:tr>
              <a:tr h="32874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include_reasoning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false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추론 문장을 응답에서 뺌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115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max_completion_tokens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4096(사용자 결정)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입력 + 출력 ≤ 문맥 길이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</a:tr>
              <a:tr h="32874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seed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42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결정적 샘플링은 최선 노력, 보장 안 함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874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response_format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json_schema, strict: true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gpt-oss-120b는 strict 지원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</a:tr>
              <a:tr h="56115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제한 시간과 재시도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timeout 5초, SDK max_retries 0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SDK 기본은 60초, 2회 재시도라 반드시 바꿈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9881921" y="1737360"/>
            <a:ext cx="4251960" cy="3967480"/>
          </a:xfrm>
          <a:prstGeom prst="roundRect">
            <a:avLst>
              <a:gd name="adj" fmla="val 2305"/>
            </a:avLst>
          </a:prstGeom>
          <a:solidFill>
            <a:srgbClr val="EEF3FA"/>
          </a:solidFill>
          <a:ln w="12700">
            <a:solidFill>
              <a:srgbClr val="D9E0EC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0019081" y="2034540"/>
            <a:ext cx="3977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주의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10019081" y="2473452"/>
            <a:ext cx="310896" cy="310896"/>
          </a:xfrm>
          <a:prstGeom prst="roundRect">
            <a:avLst>
              <a:gd name="adj" fmla="val 14706"/>
            </a:avLst>
          </a:prstGeom>
          <a:solidFill>
            <a:srgbClr val="2E74C6"/>
          </a:solidFill>
          <a:ln/>
        </p:spPr>
      </p:sp>
      <p:sp>
        <p:nvSpPr>
          <p:cNvPr id="8" name="Text 5"/>
          <p:cNvSpPr/>
          <p:nvPr/>
        </p:nvSpPr>
        <p:spPr>
          <a:xfrm>
            <a:off x="10019081" y="24734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10448849" y="2446020"/>
            <a:ext cx="3520440" cy="835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B45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출력 약 500 tps 기준 5초면 약 2,500 토큰까지임. 4096 상한까지 길게 쓰면 타임아웃(실측 필요)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10019081" y="3665220"/>
            <a:ext cx="310896" cy="310896"/>
          </a:xfrm>
          <a:prstGeom prst="roundRect">
            <a:avLst>
              <a:gd name="adj" fmla="val 14706"/>
            </a:avLst>
          </a:prstGeom>
          <a:solidFill>
            <a:srgbClr val="2E74C6"/>
          </a:solidFill>
          <a:ln/>
        </p:spPr>
      </p:sp>
      <p:sp>
        <p:nvSpPr>
          <p:cNvPr id="11" name="Text 8"/>
          <p:cNvSpPr/>
          <p:nvPr/>
        </p:nvSpPr>
        <p:spPr>
          <a:xfrm>
            <a:off x="10019081" y="36652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10448849" y="3637788"/>
            <a:ext cx="3520440" cy="835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B45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무료 플랜 표 기준 분당 8천 토큰이라 프롬프트 약 2,500 토큰이면 분당 3회 정도만 가능 → 계정 한도 확인 필요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10019081" y="4856988"/>
            <a:ext cx="310896" cy="310896"/>
          </a:xfrm>
          <a:prstGeom prst="roundRect">
            <a:avLst>
              <a:gd name="adj" fmla="val 14706"/>
            </a:avLst>
          </a:prstGeom>
          <a:solidFill>
            <a:srgbClr val="2E74C6"/>
          </a:solidFill>
          <a:ln/>
        </p:spPr>
      </p:sp>
      <p:sp>
        <p:nvSpPr>
          <p:cNvPr id="14" name="Text 11"/>
          <p:cNvSpPr/>
          <p:nvPr/>
        </p:nvSpPr>
        <p:spPr>
          <a:xfrm>
            <a:off x="10019081" y="48569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10448849" y="4829556"/>
            <a:ext cx="3520440" cy="587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B45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logprobs, logit_bias, messages[].name은 넣으면 400 오류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509321" y="7388352"/>
            <a:ext cx="13624560" cy="0"/>
          </a:xfrm>
          <a:prstGeom prst="line">
            <a:avLst/>
          </a:prstGeom>
          <a:noFill/>
          <a:ln w="12700">
            <a:solidFill>
              <a:srgbClr val="E9ECF3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09321" y="7443216"/>
            <a:ext cx="1362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7C85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출처: console.groq.com/docs/api-reference, /docs/reasoning, /docs/structured-outputs, /docs/rate-limits (2026-10-15)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93247" y="7787945"/>
            <a:ext cx="32918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09321" y="99670"/>
            <a:ext cx="13738860" cy="8284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C-01 시스템 프롬프트 섹션별 요약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09321" y="1151230"/>
            <a:ext cx="1362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시스템 프롬프트는 프롬프트 가이드의 섹션 구조로 쓰고, 전문은 스크립트 부록 A에 둠</a:t>
            </a:r>
            <a:endParaRPr lang="en-US" sz="18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9321" y="1737360"/>
          <a:ext cx="1362456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1978640"/>
              </a:tblGrid>
              <a:tr h="614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섹션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요약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</a:tr>
              <a:tr h="614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[목표]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상담사 질문을 정형쿼리 선택 또는 PostgreSQL SELECT 한 문장 계획으로 바꿈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14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[역할]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카드사 정형 DB와 NL2SQL 경력 8년의 데이터 엔지니어. 허용 범위를 넘는 SQL은 만들지 않음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</a:tr>
              <a:tr h="614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[맥락]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회원 범위는 DB가 세션 변수로 이미 거름. 기준일과 거래 제공 시작일이 정해져 있음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14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[입력]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공개 뷰 7개와 컬럼 설명, 정형쿼리 8개, 유저 프롬프트의 질문과 재시도 사유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</a:tr>
              <a:tr h="614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[처리]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정형쿼리로 답할 수 있으면 FIXED 우선 → 아니면 NL2SQL → 뷰 범위 밖이면 UNANSWERABLE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14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[출력]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route, query_id, sql, target_views, requested_period, reason 6개 필드 JSON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</a:tr>
              <a:tr h="614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[제약조건]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회원 조건과 세션 변수를 SQL에 쓰지 않음. app 뷰 7개와 허용 함수만, SELECT 한 문장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14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[예시]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정형쿼리 선택 1개, NL2SQL 1개, 답할 수 없음 1개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93247" y="7787945"/>
            <a:ext cx="32918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09321" y="99670"/>
            <a:ext cx="13738860" cy="8284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C-01 유저 프롬프트와 응답 데이터 구조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09321" y="1151230"/>
            <a:ext cx="1362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유저 프롬프트는 XML 태그로 값을 감싸고, 응답은 strict JSON Schema로 6개 필드를 강제함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09321" y="1737360"/>
            <a:ext cx="2377440" cy="365760"/>
          </a:xfrm>
          <a:prstGeom prst="roundRect">
            <a:avLst>
              <a:gd name="adj" fmla="val 12500"/>
            </a:avLst>
          </a:prstGeom>
          <a:solidFill>
            <a:srgbClr val="404155"/>
          </a:solidFill>
          <a:ln/>
        </p:spPr>
      </p:sp>
      <p:sp>
        <p:nvSpPr>
          <p:cNvPr id="5" name="Text 3"/>
          <p:cNvSpPr/>
          <p:nvPr/>
        </p:nvSpPr>
        <p:spPr>
          <a:xfrm>
            <a:off x="509321" y="17373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유저 프롬프트 변수</a:t>
            </a:r>
            <a:endParaRPr lang="en-US" sz="16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9321" y="2194560"/>
          <a:ext cx="6697980" cy="914400"/>
        </p:xfrm>
        <a:graphic>
          <a:graphicData uri="http://schemas.openxmlformats.org/drawingml/2006/table">
            <a:tbl>
              <a:tblPr/>
              <a:tblGrid>
                <a:gridCol w="1559804"/>
                <a:gridCol w="917532"/>
                <a:gridCol w="2385582"/>
                <a:gridCol w="1835063"/>
              </a:tblGrid>
              <a:tr h="45647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이름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타입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설명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필수 여부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</a:tr>
              <a:tr h="70437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question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string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가린 질문(masked_question)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필수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647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base_date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date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조회 기준일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필수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</a:tr>
              <a:tr h="70437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coverage_start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date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거래 제공 시작일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필수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0437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attempt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integer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몇 번째 계획인지(1 또는 2)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필수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</a:tr>
              <a:tr h="70437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retry_reason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string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앞 계획이 거절된 사유 코드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선택(첫 회 "없음")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0437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previous_sql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string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검증에 실패한 SQL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선택(첫 회 "없음")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7435901" y="1737360"/>
            <a:ext cx="2377440" cy="365760"/>
          </a:xfrm>
          <a:prstGeom prst="roundRect">
            <a:avLst>
              <a:gd name="adj" fmla="val 12500"/>
            </a:avLst>
          </a:prstGeom>
          <a:solidFill>
            <a:srgbClr val="404155"/>
          </a:solidFill>
          <a:ln/>
        </p:spPr>
      </p:sp>
      <p:sp>
        <p:nvSpPr>
          <p:cNvPr id="8" name="Text 5"/>
          <p:cNvSpPr/>
          <p:nvPr/>
        </p:nvSpPr>
        <p:spPr>
          <a:xfrm>
            <a:off x="7435901" y="17373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응답 데이터 구조</a:t>
            </a:r>
            <a:endParaRPr lang="en-US" sz="1600" dirty="0"/>
          </a:p>
        </p:txBody>
      </p:sp>
      <p:graphicFrame>
        <p:nvGraphicFramePr>
          <p:cNvPr id="5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35901" y="2194560"/>
          <a:ext cx="6697980" cy="914400"/>
        </p:xfrm>
        <a:graphic>
          <a:graphicData uri="http://schemas.openxmlformats.org/drawingml/2006/table">
            <a:tbl>
              <a:tblPr/>
              <a:tblGrid>
                <a:gridCol w="1743310"/>
                <a:gridCol w="1468050"/>
                <a:gridCol w="3486620"/>
              </a:tblGrid>
              <a:tr h="45647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이름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타입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설명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</a:tr>
              <a:tr h="70437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route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string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FIXED, NL2SQL, UNANSWERABLE 중 하나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0437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query_id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string 또는 null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FIXED일 때 FQ-01 ~ FQ-08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</a:tr>
              <a:tr h="70437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sql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string 또는 null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NL2SQL일 때 SELECT 한 문장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0437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target_views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array(string)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읽으려는 뷰 이름(허용 뷰 7개 중)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</a:tr>
              <a:tr h="70437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requested_period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from, to(date 또는 null). 질문이 말한 기간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647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reason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string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판단 이유 한 문장(한국어)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509321" y="6858000"/>
            <a:ext cx="13624560" cy="2717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3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strict 모드는 모든 필드가 required이고 선택 값은 null 허용 타입으로 둠(Structured Outputs 문서)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93247" y="7787945"/>
            <a:ext cx="32918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09321" y="99670"/>
            <a:ext cx="13738860" cy="8284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⑥ 남은 시간 예산 정책: 측정 시점과 계산식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09321" y="1151230"/>
            <a:ext cx="1362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단계를 시작하기 전마다 실제로 흐른 시간을 재서, 남은 예산이 0.75초 이상일 때만 시작함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09321" y="1737360"/>
            <a:ext cx="1463040" cy="365760"/>
          </a:xfrm>
          <a:prstGeom prst="roundRect">
            <a:avLst>
              <a:gd name="adj" fmla="val 12500"/>
            </a:avLst>
          </a:prstGeom>
          <a:solidFill>
            <a:srgbClr val="404155"/>
          </a:solidFill>
          <a:ln/>
        </p:spPr>
      </p:sp>
      <p:sp>
        <p:nvSpPr>
          <p:cNvPr id="5" name="Text 3"/>
          <p:cNvSpPr/>
          <p:nvPr/>
        </p:nvSpPr>
        <p:spPr>
          <a:xfrm>
            <a:off x="509321" y="173736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계산식</a:t>
            </a:r>
            <a:endParaRPr lang="en-US" sz="16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9321" y="2194560"/>
          <a:ext cx="1362456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6035040"/>
                <a:gridCol w="557784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이름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계산식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이 워크플로우 값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남은 시간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전체 시간 예산 - 기존 사용 시간 - 종료 처리 시간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15 - 기존 사용 시간 - 1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남은 시간 예산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남은 시간 - SUM(앞으로 남은 단계의 외부 연동 최악값)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남은 시간 - (아래 차감값)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시작 기준 시간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전체 시간 예산 × 5%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15 × 0.05 = 0.75초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시작 조건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남은 시간 예산 ≥ 시작 기준 시간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남은 시간 예산 ≥ 0.75초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09321" y="4114800"/>
            <a:ext cx="2377440" cy="365760"/>
          </a:xfrm>
          <a:prstGeom prst="roundRect">
            <a:avLst>
              <a:gd name="adj" fmla="val 12500"/>
            </a:avLst>
          </a:prstGeom>
          <a:solidFill>
            <a:srgbClr val="404155"/>
          </a:solidFill>
          <a:ln/>
        </p:spPr>
      </p:sp>
      <p:sp>
        <p:nvSpPr>
          <p:cNvPr id="8" name="Text 5"/>
          <p:cNvSpPr/>
          <p:nvPr/>
        </p:nvSpPr>
        <p:spPr>
          <a:xfrm>
            <a:off x="509321" y="41148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측정 시점별 차감값</a:t>
            </a:r>
            <a:endParaRPr lang="en-US" sz="1600" dirty="0"/>
          </a:p>
        </p:txBody>
      </p:sp>
      <p:graphicFrame>
        <p:nvGraphicFramePr>
          <p:cNvPr id="5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9321" y="4572000"/>
          <a:ext cx="13624560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941832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측정 시점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차감하는 외부 연동 최악값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S-R1 시작 전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S-R2 5초 = 5초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S-R2 시작 전(1차, 재시도)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S-R2 5초 = 5초(반복 구간 안이라 1회분만)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S-R3, S-R4 시작 전(attempt 1)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되돌아갈 경로의 S-R2 5초 = 5초(분기 중 가장 큰 경로)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S-R3, S-R4 시작 전(attempt 2)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0초(더 돌아갈 일이 없음)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S-R5, S-R6 시작 전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0초</a:t>
                      </a:r>
                      <a:endParaRPr lang="en-US" sz="15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509321" y="6684264"/>
            <a:ext cx="13624560" cy="2717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3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기존 사용 시간은 started_at부터 실제로 흐른 시간(측정값). S-R5는 statement_timeout을 이 시점 남은 시간 예산 이하로 둠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93247" y="7787945"/>
            <a:ext cx="32918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09321" y="99670"/>
            <a:ext cx="13738860" cy="8284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⑥ 남은 시간 예산 정책: 계산 예와 착지 단계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09321" y="1151230"/>
            <a:ext cx="1362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느려진 요청은 LLM 재시도를 하지 않고 키워드 규칙으로 바꾸어 15초를 지킴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09321" y="1737360"/>
            <a:ext cx="5852160" cy="3528060"/>
          </a:xfrm>
          <a:prstGeom prst="roundRect">
            <a:avLst>
              <a:gd name="adj" fmla="val 2073"/>
            </a:avLst>
          </a:prstGeom>
          <a:solidFill>
            <a:srgbClr val="F5F8FC"/>
          </a:solidFill>
          <a:ln w="12700">
            <a:solidFill>
              <a:srgbClr val="D9E0E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6481" y="1847088"/>
            <a:ext cx="5577840" cy="3308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전체 시간 예산 15초 / 종료 처리 1초 / 시작 기준 0.75초</a:t>
            </a:r>
            <a:endParaRPr lang="en-US" sz="14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[예 1] S-R2 1차 시작 전, 기존 사용 0.4초</a:t>
            </a:r>
            <a:endParaRPr lang="en-US" sz="14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남은 시간 = 15 - 0.4 - 1 = 13.6초</a:t>
            </a:r>
            <a:endParaRPr lang="en-US" sz="14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남은 시간 예산 = 13.6 - 5 = 8.6초 ≥ 0.75 → 시작</a:t>
            </a:r>
            <a:endParaRPr lang="en-US" sz="14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[예 2] S-R2 재시도 시작 전, 기존 사용 6.2초</a:t>
            </a:r>
            <a:endParaRPr lang="en-US" sz="14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남은 시간 = 15 - 6.2 - 1 = 7.8초</a:t>
            </a:r>
            <a:endParaRPr lang="en-US" sz="14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남은 시간 예산 = 7.8 - 5 = 2.8초 ≥ 0.75 → 시작</a:t>
            </a:r>
            <a:endParaRPr lang="en-US" sz="14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[예 3] S-R2 재시도 시작 전, 기존 사용 9.6초</a:t>
            </a:r>
            <a:endParaRPr lang="en-US" sz="14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남은 시간 = 15 - 9.6 - 1 = 4.4초</a:t>
            </a:r>
            <a:endParaRPr lang="en-US" sz="14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남은 시간 예산 = 4.4 - 5 = -0.6초 &lt; 0.75</a:t>
            </a:r>
            <a:endParaRPr lang="en-US" sz="14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→ 착지(키워드 규칙)</a:t>
            </a:r>
            <a:endParaRPr lang="en-US" sz="14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[예 4] S-R5 시작 전, 기존 사용 11.3초</a:t>
            </a:r>
            <a:endParaRPr lang="en-US" sz="14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남은 시간 = 15 - 11.3 - 1 = 2.7초</a:t>
            </a:r>
            <a:endParaRPr lang="en-US" sz="14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남은 시간 예산 = 2.7 - 0 = 2.7초 ≥ 0.75 → 시작</a:t>
            </a:r>
            <a:endParaRPr lang="en-US" sz="14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statement_timeout = 2,700ms 이하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590081" y="1737360"/>
            <a:ext cx="3291840" cy="365760"/>
          </a:xfrm>
          <a:prstGeom prst="roundRect">
            <a:avLst>
              <a:gd name="adj" fmla="val 12500"/>
            </a:avLst>
          </a:prstGeom>
          <a:solidFill>
            <a:srgbClr val="404155"/>
          </a:solidFill>
          <a:ln/>
        </p:spPr>
      </p:sp>
      <p:sp>
        <p:nvSpPr>
          <p:cNvPr id="7" name="Text 5"/>
          <p:cNvSpPr/>
          <p:nvPr/>
        </p:nvSpPr>
        <p:spPr>
          <a:xfrm>
            <a:off x="6590081" y="17373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기준 미달 시 단계별 착지</a:t>
            </a:r>
            <a:endParaRPr lang="en-US" sz="16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90081" y="2194560"/>
          <a:ext cx="7543800" cy="914400"/>
        </p:xfrm>
        <a:graphic>
          <a:graphicData uri="http://schemas.openxmlformats.org/drawingml/2006/table">
            <a:tbl>
              <a:tblPr/>
              <a:tblGrid>
                <a:gridCol w="1065007"/>
                <a:gridCol w="3195021"/>
                <a:gridCol w="3283772"/>
              </a:tblGrid>
              <a:tr h="5979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단계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착지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판단 이유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</a:tr>
              <a:tr h="8458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S-R1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안전 종료(TIME_BUDGET_EXCEEDED)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시작 직후라 실제로는 거의 없음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458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S-R2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대체 경로(키워드 규칙 정형쿼리) → 없으면 안전 종료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LLM 없이도 정형쿼리는 고를 수 있음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</a:tr>
              <a:tr h="10937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S-R3, S-R4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재시도를 끄고 차감값 0초로 다시 계산 → 그래도 미달이면 안전 종료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재시도 없이 끝날 수 있는 요청을 살림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458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S-R5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안전 종료(TIME_BUDGET_EXCEEDED)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DB 결과 없이는 낼 결과가 없음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</a:tr>
              <a:tr h="8458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S-R6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착지 없음, 항상 실행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종료 처리 시간 1초를 미리 떼어 둠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93247" y="7787945"/>
            <a:ext cx="32918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09321" y="99670"/>
            <a:ext cx="13738860" cy="8284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부록: 논리 뷰 목록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09321" y="1151230"/>
            <a:ext cx="1362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NL2SQL 계정이 읽을 수 있는 뷰는 9개이고, 그중 공개 뷰 7개만 LLM에 보여 주고 SQL에 허용함</a:t>
            </a:r>
            <a:endParaRPr lang="en-US" sz="18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9321" y="1737360"/>
          <a:ext cx="1362456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6400800"/>
                <a:gridCol w="1097280"/>
                <a:gridCol w="2286000"/>
              </a:tblGrid>
              <a:tr h="5074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뷰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담는 내용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컬럼 수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NL2SQL 허용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</a:tr>
              <a:tr h="5074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app.customer_profile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가입일, 연령대(기준일 이전 가입만)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허용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74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app.customer_cards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보유 카드(card_ref 가명 번호), 상품, 브랜드, 발급일, 상태, 연회비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허용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</a:tr>
              <a:tr h="5074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app.monthly_usage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카드별 월 승인 사용액과 건수, 최근 6개월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허용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74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app.merchant_usage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카드별 월별 가맹점, 업종 승인 사용액, 최근 6개월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허용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</a:tr>
              <a:tr h="5074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app.customer_delinquency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기준일 이전 완료월 중 가장 최근 연체 1건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허용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74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app.customer_delinquency_history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최근 완료월 기준 12개월 연체 이력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허용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</a:tr>
              <a:tr h="5074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app.customer_daily_usage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최근 90일 일별 승인 사용액과 건수(전체 카드 합)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허용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74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app_internal.customer_cards_full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원본 카드ID 포함 조립용 뷰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금지(위험 R-01)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</a:tr>
              <a:tr h="5074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app_internal.member_basic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회원ID, 가입일(S-R1 회원 확인 전용)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금지(서비스 코드만)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9321" y="6949440"/>
            <a:ext cx="13624560" cy="2717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3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세션 변수 app.member_id(행 수준 보안), app.base_date, app.coverage_start를 트랜잭션 안에서 지정해야 행이 보임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09321" y="7388352"/>
            <a:ext cx="13624560" cy="0"/>
          </a:xfrm>
          <a:prstGeom prst="line">
            <a:avLst/>
          </a:prstGeom>
          <a:noFill/>
          <a:ln w="12700">
            <a:solidFill>
              <a:srgbClr val="E9ECF3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09321" y="7443216"/>
            <a:ext cx="1362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7C85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근거: work/db_catalog.json(sql_retriever_user, 2026-10-15 실행), rdb/init/04 ~ 06 SQL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93247" y="7787945"/>
            <a:ext cx="32918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09321" y="99670"/>
            <a:ext cx="13738860" cy="8284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부록: 정형쿼리 목록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09321" y="1151230"/>
            <a:ext cx="1362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정형쿼리 8개는 모두 NL2SQL 계정으로 EXPLAIN을 통과했고, LLM 실패 시 키워드 규칙으로도 고름</a:t>
            </a:r>
            <a:endParaRPr lang="en-US" sz="18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9321" y="1737360"/>
          <a:ext cx="1362456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3474720"/>
                <a:gridCol w="1920240"/>
                <a:gridCol w="4206240"/>
                <a:gridCol w="2834640"/>
              </a:tblGrid>
              <a:tr h="74450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고정 조회ID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설명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결과 단위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대체 경로 키워드(설계 가정)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EXPLAIN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</a:tr>
              <a:tr h="54130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FQ-01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고객 기본 정보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회원 1행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가입일, 연령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통과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130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FQ-02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보유 카드 목록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카드 1장당 1행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보유 카드, 카드 목록, 연회비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통과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</a:tr>
              <a:tr h="54130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FQ-03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카드별 월 사용액(최근 6개월)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카드별 월 1행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카드별 + 월 또는 사용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통과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130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FQ-04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 사용액 합계(전체 카드)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 1행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월별, 월 사용, 지난달, 이번 달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통과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</a:tr>
              <a:tr h="54130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FQ-05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업종별 사용액(최근 6개월)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업종 1행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업종, 가맹점, 어디서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통과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130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FQ-06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최근 연체 현황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회원 1행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연체(이력 표현 없음)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통과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</a:tr>
              <a:tr h="54130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FQ-07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연체 이력(최근 12개월)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 1행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연체 + 이력, 내역, 12개월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통과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130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FQ-08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일별 사용액(최근 90일)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일 1행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일별, 날짜별, 90일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통과(비용 큼, 실측 필요)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9321" y="6949440"/>
            <a:ext cx="13624560" cy="2717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3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SQL 전문은 스크립트 부록 B. 키워드 규칙은 위에서부터 차례로 맞춰 처음 맞는 1개를 씀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09321" y="7388352"/>
            <a:ext cx="13624560" cy="0"/>
          </a:xfrm>
          <a:prstGeom prst="line">
            <a:avLst/>
          </a:prstGeom>
          <a:noFill/>
          <a:ln w="12700">
            <a:solidFill>
              <a:srgbClr val="E9ECF3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09321" y="7443216"/>
            <a:ext cx="1362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7C85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근거: work/explain_fixed_queries.log(sql_retriever_user, 읽기 전용 세션, 2026-10-15)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93247" y="7787945"/>
            <a:ext cx="32918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09321" y="99670"/>
            <a:ext cx="13738860" cy="8284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부록: SQL 검증 규칙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09321" y="1151230"/>
            <a:ext cx="1362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허용 목록에 있는 것만 통과시키는 방식(기본 거부)으로 검사함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09321" y="1737360"/>
            <a:ext cx="6697980" cy="457200"/>
          </a:xfrm>
          <a:prstGeom prst="roundRect">
            <a:avLst>
              <a:gd name="adj" fmla="val 12000"/>
            </a:avLst>
          </a:prstGeom>
          <a:solidFill>
            <a:srgbClr val="1E2A5C"/>
          </a:solidFill>
          <a:ln/>
        </p:spPr>
      </p:sp>
      <p:sp>
        <p:nvSpPr>
          <p:cNvPr id="5" name="Text 3"/>
          <p:cNvSpPr/>
          <p:nvPr/>
        </p:nvSpPr>
        <p:spPr>
          <a:xfrm>
            <a:off x="509321" y="1737360"/>
            <a:ext cx="66979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허용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7435901" y="1737360"/>
            <a:ext cx="6697980" cy="457200"/>
          </a:xfrm>
          <a:prstGeom prst="roundRect">
            <a:avLst>
              <a:gd name="adj" fmla="val 12000"/>
            </a:avLst>
          </a:prstGeom>
          <a:solidFill>
            <a:srgbClr val="2E74C6"/>
          </a:solidFill>
          <a:ln/>
        </p:spPr>
      </p:sp>
      <p:sp>
        <p:nvSpPr>
          <p:cNvPr id="7" name="Text 5"/>
          <p:cNvSpPr/>
          <p:nvPr/>
        </p:nvSpPr>
        <p:spPr>
          <a:xfrm>
            <a:off x="7435901" y="1737360"/>
            <a:ext cx="66979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금지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509321" y="2304288"/>
            <a:ext cx="6697980" cy="4462272"/>
          </a:xfrm>
          <a:prstGeom prst="roundRect">
            <a:avLst>
              <a:gd name="adj" fmla="val 2049"/>
            </a:avLst>
          </a:prstGeom>
          <a:solidFill>
            <a:srgbClr val="EEF3FA"/>
          </a:solidFill>
          <a:ln w="12700">
            <a:solidFill>
              <a:srgbClr val="D9E0E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6481" y="2549347"/>
            <a:ext cx="310896" cy="310896"/>
          </a:xfrm>
          <a:prstGeom prst="roundRect">
            <a:avLst>
              <a:gd name="adj" fmla="val 14706"/>
            </a:avLst>
          </a:prstGeom>
          <a:solidFill>
            <a:srgbClr val="2E74C6"/>
          </a:solidFill>
          <a:ln/>
        </p:spPr>
      </p:sp>
      <p:sp>
        <p:nvSpPr>
          <p:cNvPr id="10" name="Text 8"/>
          <p:cNvSpPr/>
          <p:nvPr/>
        </p:nvSpPr>
        <p:spPr>
          <a:xfrm>
            <a:off x="646481" y="2549347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76249" y="2521915"/>
            <a:ext cx="596646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B45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뷰: app 스키마 7개(부록 논리 뷰 목록). 스키마 이름을 붙여 씀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646481" y="3396082"/>
            <a:ext cx="310896" cy="310896"/>
          </a:xfrm>
          <a:prstGeom prst="roundRect">
            <a:avLst>
              <a:gd name="adj" fmla="val 14706"/>
            </a:avLst>
          </a:prstGeom>
          <a:solidFill>
            <a:srgbClr val="2E74C6"/>
          </a:solidFill>
          <a:ln/>
        </p:spPr>
      </p:sp>
      <p:sp>
        <p:nvSpPr>
          <p:cNvPr id="13" name="Text 11"/>
          <p:cNvSpPr/>
          <p:nvPr/>
        </p:nvSpPr>
        <p:spPr>
          <a:xfrm>
            <a:off x="646481" y="339608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076249" y="3368650"/>
            <a:ext cx="5966460" cy="3703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B45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컬럼: 뷰마다 db_catalog.json의 컬럼 전체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646481" y="3963924"/>
            <a:ext cx="310896" cy="310896"/>
          </a:xfrm>
          <a:prstGeom prst="roundRect">
            <a:avLst>
              <a:gd name="adj" fmla="val 14706"/>
            </a:avLst>
          </a:prstGeom>
          <a:solidFill>
            <a:srgbClr val="2E74C6"/>
          </a:solidFill>
          <a:ln/>
        </p:spPr>
      </p:sp>
      <p:sp>
        <p:nvSpPr>
          <p:cNvPr id="16" name="Text 14"/>
          <p:cNvSpPr/>
          <p:nvPr/>
        </p:nvSpPr>
        <p:spPr>
          <a:xfrm>
            <a:off x="646481" y="39639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076249" y="3936492"/>
            <a:ext cx="5966460" cy="9281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B45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구문: SELECT 한 문장, WITH, WHERE, GROUP BY, HAVING, ORDER BY, LIMIT, 허용 뷰끼리의 JOIN, 서브쿼리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646481" y="5089550"/>
            <a:ext cx="310896" cy="310896"/>
          </a:xfrm>
          <a:prstGeom prst="roundRect">
            <a:avLst>
              <a:gd name="adj" fmla="val 14706"/>
            </a:avLst>
          </a:prstGeom>
          <a:solidFill>
            <a:srgbClr val="2E74C6"/>
          </a:solidFill>
          <a:ln/>
        </p:spPr>
      </p:sp>
      <p:sp>
        <p:nvSpPr>
          <p:cNvPr id="19" name="Text 17"/>
          <p:cNvSpPr/>
          <p:nvPr/>
        </p:nvSpPr>
        <p:spPr>
          <a:xfrm>
            <a:off x="646481" y="508955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076249" y="5062118"/>
            <a:ext cx="5966460" cy="9281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B45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함수: count, sum, avg, min, max, date_trunc, to_char, extract, coalesce, round, greatest, least, abs, 형변환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646481" y="6215177"/>
            <a:ext cx="310896" cy="310896"/>
          </a:xfrm>
          <a:prstGeom prst="roundRect">
            <a:avLst>
              <a:gd name="adj" fmla="val 14706"/>
            </a:avLst>
          </a:prstGeom>
          <a:solidFill>
            <a:srgbClr val="2E74C6"/>
          </a:solidFill>
          <a:ln/>
        </p:spPr>
      </p:sp>
      <p:sp>
        <p:nvSpPr>
          <p:cNvPr id="22" name="Text 20"/>
          <p:cNvSpPr/>
          <p:nvPr/>
        </p:nvSpPr>
        <p:spPr>
          <a:xfrm>
            <a:off x="646481" y="6215177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076249" y="6187745"/>
            <a:ext cx="5966460" cy="3703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B45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행 상한: LIMIT 200(없으면 붙이고, 크면 낮춤)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7435901" y="2304288"/>
            <a:ext cx="6697980" cy="4462272"/>
          </a:xfrm>
          <a:prstGeom prst="roundRect">
            <a:avLst>
              <a:gd name="adj" fmla="val 2049"/>
            </a:avLst>
          </a:prstGeom>
          <a:solidFill>
            <a:srgbClr val="F5F8FC"/>
          </a:solidFill>
          <a:ln w="12700">
            <a:solidFill>
              <a:srgbClr val="D9E0E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573061" y="2620327"/>
            <a:ext cx="310896" cy="310896"/>
          </a:xfrm>
          <a:prstGeom prst="roundRect">
            <a:avLst>
              <a:gd name="adj" fmla="val 14706"/>
            </a:avLst>
          </a:prstGeom>
          <a:solidFill>
            <a:srgbClr val="2E74C6"/>
          </a:solidFill>
          <a:ln/>
        </p:spPr>
      </p:sp>
      <p:sp>
        <p:nvSpPr>
          <p:cNvPr id="26" name="Text 24"/>
          <p:cNvSpPr/>
          <p:nvPr/>
        </p:nvSpPr>
        <p:spPr>
          <a:xfrm>
            <a:off x="7573061" y="2620327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8002829" y="2592896"/>
            <a:ext cx="5966460" cy="9281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B45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쓰기와 구조 변경: INSERT, UPDATE, DELETE, MERGE, CREATE, ALTER, DROP, TRUNCATE, GRANT, REVOKE, COPY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7573061" y="3887915"/>
            <a:ext cx="310896" cy="310896"/>
          </a:xfrm>
          <a:prstGeom prst="roundRect">
            <a:avLst>
              <a:gd name="adj" fmla="val 14706"/>
            </a:avLst>
          </a:prstGeom>
          <a:solidFill>
            <a:srgbClr val="2E74C6"/>
          </a:solidFill>
          <a:ln/>
        </p:spPr>
      </p:sp>
      <p:sp>
        <p:nvSpPr>
          <p:cNvPr id="29" name="Text 27"/>
          <p:cNvSpPr/>
          <p:nvPr/>
        </p:nvSpPr>
        <p:spPr>
          <a:xfrm>
            <a:off x="7573061" y="388791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8002829" y="3860483"/>
            <a:ext cx="596646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B45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여러 문장(;), 주석(-- 또는 /* */), FOR UPDATE 또는 FOR SHARE, SELECT INTO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7573061" y="4876610"/>
            <a:ext cx="310896" cy="310896"/>
          </a:xfrm>
          <a:prstGeom prst="roundRect">
            <a:avLst>
              <a:gd name="adj" fmla="val 14706"/>
            </a:avLst>
          </a:prstGeom>
          <a:solidFill>
            <a:srgbClr val="2E74C6"/>
          </a:solidFill>
          <a:ln/>
        </p:spPr>
      </p:sp>
      <p:sp>
        <p:nvSpPr>
          <p:cNvPr id="32" name="Text 30"/>
          <p:cNvSpPr/>
          <p:nvPr/>
        </p:nvSpPr>
        <p:spPr>
          <a:xfrm>
            <a:off x="7573061" y="487661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8002829" y="4849178"/>
            <a:ext cx="596646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B45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함수: set_config, current_setting, pg_로 시작하는 함수, generate_series, pg_sleep</a:t>
            </a:r>
            <a:endParaRPr lang="en-US" sz="1800" dirty="0"/>
          </a:p>
        </p:txBody>
      </p:sp>
      <p:sp>
        <p:nvSpPr>
          <p:cNvPr id="34" name="Shape 32"/>
          <p:cNvSpPr/>
          <p:nvPr/>
        </p:nvSpPr>
        <p:spPr>
          <a:xfrm>
            <a:off x="7573061" y="5865305"/>
            <a:ext cx="310896" cy="310896"/>
          </a:xfrm>
          <a:prstGeom prst="roundRect">
            <a:avLst>
              <a:gd name="adj" fmla="val 14706"/>
            </a:avLst>
          </a:prstGeom>
          <a:solidFill>
            <a:srgbClr val="2E74C6"/>
          </a:solidFill>
          <a:ln/>
        </p:spPr>
      </p:sp>
      <p:sp>
        <p:nvSpPr>
          <p:cNvPr id="35" name="Text 33"/>
          <p:cNvSpPr/>
          <p:nvPr/>
        </p:nvSpPr>
        <p:spPr>
          <a:xfrm>
            <a:off x="7573061" y="586530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8002829" y="5837873"/>
            <a:ext cx="596646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B45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스키마: app_internal, public, pg_catalog, information_schema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509321" y="6949440"/>
            <a:ext cx="13624560" cy="2717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3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사용자 결정 D-05(2026-10-15). DB 권한이 아니라 검사 규칙으로 막는 항목이 있으므로 위험 R-01 참고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93247" y="7787945"/>
            <a:ext cx="32918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09321" y="99670"/>
            <a:ext cx="13738860" cy="8284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부록: 필드 영문명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09321" y="1151230"/>
            <a:ext cx="1362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단계 사이에 오가는 필드의 영문명과 한글 뜻을 한곳에 모음</a:t>
            </a:r>
            <a:endParaRPr lang="en-US" sz="18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9321" y="1737360"/>
          <a:ext cx="6697980" cy="914400"/>
        </p:xfrm>
        <a:graphic>
          <a:graphicData uri="http://schemas.openxmlformats.org/drawingml/2006/table">
            <a:tbl>
              <a:tblPr/>
              <a:tblGrid>
                <a:gridCol w="2172318"/>
                <a:gridCol w="2353344"/>
                <a:gridCol w="995646"/>
                <a:gridCol w="1176672"/>
              </a:tblGrid>
              <a:tr h="62627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영문명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한글 뜻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타입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처음 만드는 단계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</a:tr>
              <a:tr h="37837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request_id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요청 추적 ID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string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트리거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837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question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상담사 질문 원문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string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트리거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</a:tr>
              <a:tr h="37837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member_id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회원ID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string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트리거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837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masked_question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식별자를 가린 질문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string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S-R1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</a:tr>
              <a:tr h="37837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masked_count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가린 개수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integer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S-R1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837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base_date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조회 기준일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date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S-R1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</a:tr>
              <a:tr h="37837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coverage_start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거래 제공 시작일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date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S-R1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2627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started_at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워크플로우 시작 시각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datetime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S-R1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</a:tr>
              <a:tr h="62627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attempt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계획 시도 횟수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integer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S-R1(0), S-R2(+1)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837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plan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LLM 계획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S-R2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</a:tr>
              <a:tr h="62627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plan_source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계획 출처(LLM 또는 키워드 규칙)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string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S-R2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35901" y="1737360"/>
          <a:ext cx="6697980" cy="914400"/>
        </p:xfrm>
        <a:graphic>
          <a:graphicData uri="http://schemas.openxmlformats.org/drawingml/2006/table">
            <a:tbl>
              <a:tblPr/>
              <a:tblGrid>
                <a:gridCol w="2172318"/>
                <a:gridCol w="2172318"/>
                <a:gridCol w="1267185"/>
                <a:gridCol w="1086159"/>
              </a:tblGrid>
              <a:tr h="53183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영문명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한글 뜻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타입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처음 만드는 단계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</a:tr>
              <a:tr h="31745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verdict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계획 판정 결과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string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S-R3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45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candidate_sql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검증할 SQL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string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S-R3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</a:tr>
              <a:tr h="53183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sql_source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SQL 출처(정형쿼리 또는 NL2SQL)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string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S-R3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45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query_id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정형쿼리ID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string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S-R3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</a:tr>
              <a:tr h="53183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retry_reason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재계획 사유 코드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string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S-R3, S-R4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45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unanswerable_reason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답할 수 없는 이유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string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S-R3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</a:tr>
              <a:tr h="31745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validated_sql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검증 통과 SQL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string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S-R4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45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row_limit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결과 행 상한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integer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S-R4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</a:tr>
              <a:tr h="31745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previous_sql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검증 실패 SQL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string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S-R4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656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columns, rows, row_count, truncated, db_elapsed_ms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실행 결과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array, array, integer, boolean, integer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S-R5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</a:tr>
              <a:tr h="748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status, route, message, elapsed_ms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응답 상태, 경로, 안내 문장, 전체 처리 시간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string, string, string, integer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S-R6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93247" y="7787945"/>
            <a:ext cx="32918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09321" y="99670"/>
            <a:ext cx="13738860" cy="8284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부록: 오류 응답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09321" y="1151230"/>
            <a:ext cx="1362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오류 응답에는 SQL, DB 식별자, 접속 정보, 키를 넣지 않고, 다시 시도해도 되는지만 알려 줌</a:t>
            </a:r>
            <a:endParaRPr lang="en-US" sz="18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9321" y="1737360"/>
          <a:ext cx="1362456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1188720"/>
                <a:gridCol w="2194560"/>
                <a:gridCol w="5760720"/>
                <a:gridCol w="1554480"/>
              </a:tblGrid>
              <a:tr h="6599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오류 코드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HTTP 상태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발생 단계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의미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다시 시도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</a:tr>
              <a:tr h="438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INVALID_REQUEST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400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S-R1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필수 필드 누락, 형식 오류, 기준일 오류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아니요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MEMBER_NOT_FOUND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404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S-R1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회원이 없거나 기준일에 가입 전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아니요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</a:tr>
              <a:tr h="438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LLM_UNAVAILABLE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503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S-R2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LLM 실패 + 키워드 규칙에도 맞는 정형쿼리 없음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99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SQL_VALIDATION_FAILED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422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S-R4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재생성 후에도 SQL이 검증 규칙 위반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아니요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</a:tr>
              <a:tr h="438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DB_TIMEOUT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504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S-R5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실행 제한 시간 초과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DB_ERROR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500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S-R1, S-R5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DB 접속 또는 조회 오류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</a:tr>
              <a:tr h="438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TIME_BUDGET_EXCEEDED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504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모든 단계 시작 전(⑥)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남은 시간 예산이 시작 기준 미달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INTERNAL_ERROR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500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S-R6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응답 구성 실패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09321" y="6309360"/>
            <a:ext cx="13624560" cy="491236"/>
          </a:xfrm>
          <a:prstGeom prst="roundRect">
            <a:avLst>
              <a:gd name="adj" fmla="val 14891"/>
            </a:avLst>
          </a:prstGeom>
          <a:solidFill>
            <a:srgbClr val="F5F8FC"/>
          </a:solidFill>
          <a:ln w="12700">
            <a:solidFill>
              <a:srgbClr val="D9E0EC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6481" y="6419088"/>
            <a:ext cx="13350240" cy="2717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 request_id(string), status("ERROR"), error_code(string), message(string, 한국어 안내), retryable(boolean) }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509321" y="6892036"/>
            <a:ext cx="13624560" cy="2717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3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메시지 예: "질문을 처리할 데이터 조회 문장을 만들지 못했습니다. 질문을 바꿔 다시 요청해 주세요."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93247" y="7787945"/>
            <a:ext cx="32918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09321" y="99670"/>
            <a:ext cx="13738860" cy="8284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부록: 설계 점검표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09321" y="1151230"/>
            <a:ext cx="1362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설계 가이드 5절 점검표를 이 설계서에 그대로 대어 본 결과임</a:t>
            </a:r>
            <a:endParaRPr lang="en-US" sz="18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9321" y="1737360"/>
          <a:ext cx="13624560" cy="914400"/>
        </p:xfrm>
        <a:graphic>
          <a:graphicData uri="http://schemas.openxmlformats.org/drawingml/2006/table">
            <a:tbl>
              <a:tblPr/>
              <a:tblGrid>
                <a:gridCol w="9966960"/>
                <a:gridCol w="3657600"/>
              </a:tblGrid>
              <a:tr h="4255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점검 항목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결과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</a:tr>
              <a:tr h="4255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단계ID 접두어가 트리거 유형(S-R)과 맞음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통과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55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입력과 출력이 필드 단위이고, 입력의 출처 단계가 그 필드를 출력함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통과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</a:tr>
              <a:tr h="4255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외부시스템이 "없음"이 아닌 단계(S-R2)가 연동 명세에 있음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통과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55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연동 명세의 커넥터ID(C-01)가 커넥터 목록에 있음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통과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</a:tr>
              <a:tr h="4255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연동 최악값 = 타임아웃 × (1 + 재시도)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통과(5 × 1 = 5초)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55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초과 시 처리와 착지를 부분결과 → 대체 경로 → 안전 종료 순서로 검토함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통과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</a:tr>
              <a:tr h="4255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반복 구간 최악값 = 구간 합계 × (1 + 재시도)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통과((5 + 0 + 0) × 2 = 10초)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55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최악값 합계에서 분기는 가장 큰 경로만 더함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통과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</a:tr>
              <a:tr h="4255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최악값 합계 ≤ 전체 시간 예산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통과(10초 ≤ 15초)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55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재개 방안이 해당없음 또는 단계별 결과 저장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통과(해당없음)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</a:tr>
              <a:tr h="4255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LLM 커넥터 필수 항목이 모두 채워짐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통과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55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시스템 프롬프트가 프롬프트 가이드 섹션 구조를 따름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3B455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통과(부록 A)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93247" y="7787945"/>
            <a:ext cx="32918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09321" y="99670"/>
            <a:ext cx="13738860" cy="8284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부록: 설계 가정과 위험 항목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09321" y="1151230"/>
            <a:ext cx="1362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아래 항목은 개발 후 실측하거나 권한을 고쳐서 닫아야 함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09321" y="1737360"/>
            <a:ext cx="6697980" cy="457200"/>
          </a:xfrm>
          <a:prstGeom prst="roundRect">
            <a:avLst>
              <a:gd name="adj" fmla="val 12000"/>
            </a:avLst>
          </a:prstGeom>
          <a:solidFill>
            <a:srgbClr val="1E2A5C"/>
          </a:solidFill>
          <a:ln/>
        </p:spPr>
      </p:sp>
      <p:sp>
        <p:nvSpPr>
          <p:cNvPr id="5" name="Text 3"/>
          <p:cNvSpPr/>
          <p:nvPr/>
        </p:nvSpPr>
        <p:spPr>
          <a:xfrm>
            <a:off x="509321" y="1737360"/>
            <a:ext cx="66979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설계 가정(실측으로 확인)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7435901" y="1737360"/>
            <a:ext cx="6697980" cy="457200"/>
          </a:xfrm>
          <a:prstGeom prst="roundRect">
            <a:avLst>
              <a:gd name="adj" fmla="val 12000"/>
            </a:avLst>
          </a:prstGeom>
          <a:solidFill>
            <a:srgbClr val="2E74C6"/>
          </a:solidFill>
          <a:ln/>
        </p:spPr>
      </p:sp>
      <p:sp>
        <p:nvSpPr>
          <p:cNvPr id="7" name="Text 5"/>
          <p:cNvSpPr/>
          <p:nvPr/>
        </p:nvSpPr>
        <p:spPr>
          <a:xfrm>
            <a:off x="7435901" y="1737360"/>
            <a:ext cx="66979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위험 항목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509321" y="2304288"/>
            <a:ext cx="6697980" cy="4530852"/>
          </a:xfrm>
          <a:prstGeom prst="roundRect">
            <a:avLst>
              <a:gd name="adj" fmla="val 2018"/>
            </a:avLst>
          </a:prstGeom>
          <a:solidFill>
            <a:srgbClr val="EEF3FA"/>
          </a:solidFill>
          <a:ln w="12700">
            <a:solidFill>
              <a:srgbClr val="D9E0E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6481" y="2628900"/>
            <a:ext cx="310896" cy="310896"/>
          </a:xfrm>
          <a:prstGeom prst="roundRect">
            <a:avLst>
              <a:gd name="adj" fmla="val 14706"/>
            </a:avLst>
          </a:prstGeom>
          <a:solidFill>
            <a:srgbClr val="2E74C6"/>
          </a:solidFill>
          <a:ln/>
        </p:spPr>
      </p:sp>
      <p:sp>
        <p:nvSpPr>
          <p:cNvPr id="10" name="Text 8"/>
          <p:cNvSpPr/>
          <p:nvPr/>
        </p:nvSpPr>
        <p:spPr>
          <a:xfrm>
            <a:off x="646481" y="26289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76249" y="2601468"/>
            <a:ext cx="596646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B45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LLM 타임아웃 5초, temperature 0.2, reasoning_effort low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646481" y="3634740"/>
            <a:ext cx="310896" cy="310896"/>
          </a:xfrm>
          <a:prstGeom prst="roundRect">
            <a:avLst>
              <a:gd name="adj" fmla="val 14706"/>
            </a:avLst>
          </a:prstGeom>
          <a:solidFill>
            <a:srgbClr val="2E74C6"/>
          </a:solidFill>
          <a:ln/>
        </p:spPr>
      </p:sp>
      <p:sp>
        <p:nvSpPr>
          <p:cNvPr id="13" name="Text 11"/>
          <p:cNvSpPr/>
          <p:nvPr/>
        </p:nvSpPr>
        <p:spPr>
          <a:xfrm>
            <a:off x="646481" y="36347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076249" y="3607308"/>
            <a:ext cx="5966460" cy="3703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B45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DB 조회와 규칙 처리가 여유 4초 안에 듦(특히 FQ-08)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646481" y="4361688"/>
            <a:ext cx="310896" cy="310896"/>
          </a:xfrm>
          <a:prstGeom prst="roundRect">
            <a:avLst>
              <a:gd name="adj" fmla="val 14706"/>
            </a:avLst>
          </a:prstGeom>
          <a:solidFill>
            <a:srgbClr val="2E74C6"/>
          </a:solidFill>
          <a:ln/>
        </p:spPr>
      </p:sp>
      <p:sp>
        <p:nvSpPr>
          <p:cNvPr id="16" name="Text 14"/>
          <p:cNvSpPr/>
          <p:nvPr/>
        </p:nvSpPr>
        <p:spPr>
          <a:xfrm>
            <a:off x="646481" y="43616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076249" y="4334256"/>
            <a:ext cx="5966460" cy="3703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B45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시작 기준 비율 5%(설계 가이드 기본값)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646481" y="5088636"/>
            <a:ext cx="310896" cy="310896"/>
          </a:xfrm>
          <a:prstGeom prst="roundRect">
            <a:avLst>
              <a:gd name="adj" fmla="val 14706"/>
            </a:avLst>
          </a:prstGeom>
          <a:solidFill>
            <a:srgbClr val="2E74C6"/>
          </a:solidFill>
          <a:ln/>
        </p:spPr>
      </p:sp>
      <p:sp>
        <p:nvSpPr>
          <p:cNvPr id="19" name="Text 17"/>
          <p:cNvSpPr/>
          <p:nvPr/>
        </p:nvSpPr>
        <p:spPr>
          <a:xfrm>
            <a:off x="646481" y="50886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076249" y="5061204"/>
            <a:ext cx="596646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B45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member_id 형식, 질문 500자 상한, 키워드 규칙표, lab_metadata 키 이름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646481" y="6094476"/>
            <a:ext cx="310896" cy="310896"/>
          </a:xfrm>
          <a:prstGeom prst="roundRect">
            <a:avLst>
              <a:gd name="adj" fmla="val 14706"/>
            </a:avLst>
          </a:prstGeom>
          <a:solidFill>
            <a:srgbClr val="2E74C6"/>
          </a:solidFill>
          <a:ln/>
        </p:spPr>
      </p:sp>
      <p:sp>
        <p:nvSpPr>
          <p:cNvPr id="22" name="Text 20"/>
          <p:cNvSpPr/>
          <p:nvPr/>
        </p:nvSpPr>
        <p:spPr>
          <a:xfrm>
            <a:off x="646481" y="609447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076249" y="6067044"/>
            <a:ext cx="5966460" cy="3703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B45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출력 4096 토큰 상한에서도 5초 안에 응답함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7435901" y="2304288"/>
            <a:ext cx="6697980" cy="4530852"/>
          </a:xfrm>
          <a:prstGeom prst="roundRect">
            <a:avLst>
              <a:gd name="adj" fmla="val 2018"/>
            </a:avLst>
          </a:prstGeom>
          <a:solidFill>
            <a:srgbClr val="F5F8FC"/>
          </a:solidFill>
          <a:ln w="12700">
            <a:solidFill>
              <a:srgbClr val="D9E0E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573061" y="2628900"/>
            <a:ext cx="310896" cy="310896"/>
          </a:xfrm>
          <a:prstGeom prst="roundRect">
            <a:avLst>
              <a:gd name="adj" fmla="val 14706"/>
            </a:avLst>
          </a:prstGeom>
          <a:solidFill>
            <a:srgbClr val="2E74C6"/>
          </a:solidFill>
          <a:ln/>
        </p:spPr>
      </p:sp>
      <p:sp>
        <p:nvSpPr>
          <p:cNvPr id="26" name="Text 24"/>
          <p:cNvSpPr/>
          <p:nvPr/>
        </p:nvSpPr>
        <p:spPr>
          <a:xfrm>
            <a:off x="7573061" y="26289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8002829" y="2601468"/>
            <a:ext cx="5966460" cy="9281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B45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R-01: NL2SQL 계정이 app_internal 뷰 2개(원본 카드ID, 회원ID)를 SELECT 할 수 있음 → 서비스용 계정과 NL2SQL 계정을 나누는 권한 정리 권장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7573061" y="3913632"/>
            <a:ext cx="310896" cy="310896"/>
          </a:xfrm>
          <a:prstGeom prst="roundRect">
            <a:avLst>
              <a:gd name="adj" fmla="val 14706"/>
            </a:avLst>
          </a:prstGeom>
          <a:solidFill>
            <a:srgbClr val="2E74C6"/>
          </a:solidFill>
          <a:ln/>
        </p:spPr>
      </p:sp>
      <p:sp>
        <p:nvSpPr>
          <p:cNvPr id="29" name="Text 27"/>
          <p:cNvSpPr/>
          <p:nvPr/>
        </p:nvSpPr>
        <p:spPr>
          <a:xfrm>
            <a:off x="7573061" y="39136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8002829" y="3886200"/>
            <a:ext cx="596646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B45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R-02: NL2SQL 계정이 원본 테이블 public.lab_metadata를 읽을 수 있음(메타데이터라 영향 낮음)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7573061" y="4919472"/>
            <a:ext cx="310896" cy="310896"/>
          </a:xfrm>
          <a:prstGeom prst="roundRect">
            <a:avLst>
              <a:gd name="adj" fmla="val 14706"/>
            </a:avLst>
          </a:prstGeom>
          <a:solidFill>
            <a:srgbClr val="2E74C6"/>
          </a:solidFill>
          <a:ln/>
        </p:spPr>
      </p:sp>
      <p:sp>
        <p:nvSpPr>
          <p:cNvPr id="32" name="Text 30"/>
          <p:cNvSpPr/>
          <p:nvPr/>
        </p:nvSpPr>
        <p:spPr>
          <a:xfrm>
            <a:off x="7573061" y="49194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8002829" y="4892040"/>
            <a:ext cx="596646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B45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R-03: Groq 무료 플랜 표 기준 분당 8천 토큰 → 실제 계정 한도 확인 필요</a:t>
            </a:r>
            <a:endParaRPr lang="en-US" sz="1800" dirty="0"/>
          </a:p>
        </p:txBody>
      </p:sp>
      <p:sp>
        <p:nvSpPr>
          <p:cNvPr id="34" name="Shape 32"/>
          <p:cNvSpPr/>
          <p:nvPr/>
        </p:nvSpPr>
        <p:spPr>
          <a:xfrm>
            <a:off x="7573061" y="5925312"/>
            <a:ext cx="310896" cy="310896"/>
          </a:xfrm>
          <a:prstGeom prst="roundRect">
            <a:avLst>
              <a:gd name="adj" fmla="val 14706"/>
            </a:avLst>
          </a:prstGeom>
          <a:solidFill>
            <a:srgbClr val="2E74C6"/>
          </a:solidFill>
          <a:ln/>
        </p:spPr>
      </p:sp>
      <p:sp>
        <p:nvSpPr>
          <p:cNvPr id="35" name="Text 33"/>
          <p:cNvSpPr/>
          <p:nvPr/>
        </p:nvSpPr>
        <p:spPr>
          <a:xfrm>
            <a:off x="7573061" y="59253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8002829" y="5897880"/>
            <a:ext cx="596646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B45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R-04: 이름처럼 정규식으로 못 잡는 식별자가 외부 LLM으로 나갈 수 있음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93247" y="7787945"/>
            <a:ext cx="32918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35</Slides>
  <Notes>35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3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SQL 검색기 워크플로우 설계서</dc:title>
  <dc:subject>PptxGenJS Presentation</dc:subject>
  <dc:creator>design-agentic-ai</dc:creator>
  <cp:lastModifiedBy>design-agentic-ai</cp:lastModifiedBy>
  <cp:revision>1</cp:revision>
  <dcterms:created xsi:type="dcterms:W3CDTF">2026-10-14T15:51:48Z</dcterms:created>
  <dcterms:modified xsi:type="dcterms:W3CDTF">2026-10-14T15:51:48Z</dcterms:modified>
</cp:coreProperties>
</file>